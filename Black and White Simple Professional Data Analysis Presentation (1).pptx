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League Gothic" charset="1" panose="00000500000000000000"/>
      <p:regular r:id="rId21"/>
    </p:embeddedFont>
    <p:embeddedFont>
      <p:font typeface="Muli"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20.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21368" b="-34532"/>
            </a:stretch>
          </a:blipFill>
        </p:spPr>
      </p:sp>
      <p:sp>
        <p:nvSpPr>
          <p:cNvPr name="TextBox 3" id="3"/>
          <p:cNvSpPr txBox="true"/>
          <p:nvPr/>
        </p:nvSpPr>
        <p:spPr>
          <a:xfrm rot="0">
            <a:off x="1252336" y="2731736"/>
            <a:ext cx="15224249" cy="2998358"/>
          </a:xfrm>
          <a:prstGeom prst="rect">
            <a:avLst/>
          </a:prstGeom>
        </p:spPr>
        <p:txBody>
          <a:bodyPr anchor="t" rtlCol="false" tIns="0" lIns="0" bIns="0" rIns="0">
            <a:spAutoFit/>
          </a:bodyPr>
          <a:lstStyle/>
          <a:p>
            <a:pPr algn="ctr">
              <a:lnSpc>
                <a:spcPts val="11709"/>
              </a:lnSpc>
            </a:pPr>
            <a:r>
              <a:rPr lang="en-US" sz="10182">
                <a:solidFill>
                  <a:srgbClr val="FFFFFF"/>
                </a:solidFill>
                <a:latin typeface="League Gothic"/>
                <a:ea typeface="League Gothic"/>
                <a:cs typeface="League Gothic"/>
                <a:sym typeface="League Gothic"/>
              </a:rPr>
              <a:t>DIABETES PREDICTION USING MACHINE LEARNING</a:t>
            </a:r>
          </a:p>
        </p:txBody>
      </p:sp>
      <p:sp>
        <p:nvSpPr>
          <p:cNvPr name="TextBox 4" id="4"/>
          <p:cNvSpPr txBox="true"/>
          <p:nvPr/>
        </p:nvSpPr>
        <p:spPr>
          <a:xfrm rot="0">
            <a:off x="11995216" y="7787903"/>
            <a:ext cx="5264084" cy="628650"/>
          </a:xfrm>
          <a:prstGeom prst="rect">
            <a:avLst/>
          </a:prstGeom>
        </p:spPr>
        <p:txBody>
          <a:bodyPr anchor="t" rtlCol="false" tIns="0" lIns="0" bIns="0" rIns="0">
            <a:spAutoFit/>
          </a:bodyPr>
          <a:lstStyle/>
          <a:p>
            <a:pPr algn="ctr">
              <a:lnSpc>
                <a:spcPts val="2610"/>
              </a:lnSpc>
            </a:pPr>
            <a:r>
              <a:rPr lang="en-US" sz="1800" spc="379">
                <a:solidFill>
                  <a:srgbClr val="F4D314"/>
                </a:solidFill>
                <a:latin typeface="Muli"/>
                <a:ea typeface="Muli"/>
                <a:cs typeface="Muli"/>
                <a:sym typeface="Muli"/>
              </a:rPr>
              <a:t>SUPERVISED BY:</a:t>
            </a:r>
          </a:p>
          <a:p>
            <a:pPr algn="ctr">
              <a:lnSpc>
                <a:spcPts val="2610"/>
              </a:lnSpc>
            </a:pPr>
            <a:r>
              <a:rPr lang="en-US" sz="1800" spc="379">
                <a:solidFill>
                  <a:srgbClr val="F4D314"/>
                </a:solidFill>
                <a:latin typeface="Muli"/>
                <a:ea typeface="Muli"/>
                <a:cs typeface="Muli"/>
                <a:sym typeface="Muli"/>
              </a:rPr>
              <a:t>MOHAMED ELSAYEH</a:t>
            </a:r>
          </a:p>
        </p:txBody>
      </p:sp>
      <p:sp>
        <p:nvSpPr>
          <p:cNvPr name="TextBox 5" id="5"/>
          <p:cNvSpPr txBox="true"/>
          <p:nvPr/>
        </p:nvSpPr>
        <p:spPr>
          <a:xfrm rot="0">
            <a:off x="307493" y="6967933"/>
            <a:ext cx="4578997" cy="1630415"/>
          </a:xfrm>
          <a:prstGeom prst="rect">
            <a:avLst/>
          </a:prstGeom>
        </p:spPr>
        <p:txBody>
          <a:bodyPr anchor="t" rtlCol="false" tIns="0" lIns="0" bIns="0" rIns="0">
            <a:spAutoFit/>
          </a:bodyPr>
          <a:lstStyle/>
          <a:p>
            <a:pPr algn="ctr">
              <a:lnSpc>
                <a:spcPts val="5217"/>
              </a:lnSpc>
            </a:pPr>
          </a:p>
          <a:p>
            <a:pPr algn="ctr">
              <a:lnSpc>
                <a:spcPts val="3622"/>
              </a:lnSpc>
            </a:pPr>
            <a:r>
              <a:rPr lang="en-US" sz="2498" spc="374">
                <a:solidFill>
                  <a:srgbClr val="F4D314"/>
                </a:solidFill>
                <a:latin typeface="Muli"/>
                <a:ea typeface="Muli"/>
                <a:cs typeface="Muli"/>
                <a:sym typeface="Muli"/>
              </a:rPr>
              <a:t>P</a:t>
            </a:r>
            <a:r>
              <a:rPr lang="en-US" sz="2498" spc="374">
                <a:solidFill>
                  <a:srgbClr val="F4D314"/>
                </a:solidFill>
                <a:latin typeface="Muli"/>
                <a:ea typeface="Muli"/>
                <a:cs typeface="Muli"/>
                <a:sym typeface="Muli"/>
              </a:rPr>
              <a:t>REPARED BY:</a:t>
            </a:r>
          </a:p>
          <a:p>
            <a:pPr algn="ctr">
              <a:lnSpc>
                <a:spcPts val="4202"/>
              </a:lnSpc>
            </a:pPr>
            <a:r>
              <a:rPr lang="en-US" sz="2898" spc="434">
                <a:solidFill>
                  <a:srgbClr val="F4D314"/>
                </a:solidFill>
                <a:latin typeface="Muli"/>
                <a:ea typeface="Muli"/>
                <a:cs typeface="Muli"/>
                <a:sym typeface="Muli"/>
              </a:rPr>
              <a:t>SOHA SHAARAWY</a:t>
            </a:r>
          </a:p>
        </p:txBody>
      </p:sp>
      <p:sp>
        <p:nvSpPr>
          <p:cNvPr name="TextBox 6" id="6"/>
          <p:cNvSpPr txBox="true"/>
          <p:nvPr/>
        </p:nvSpPr>
        <p:spPr>
          <a:xfrm rot="0">
            <a:off x="6511958" y="990600"/>
            <a:ext cx="5264084" cy="304800"/>
          </a:xfrm>
          <a:prstGeom prst="rect">
            <a:avLst/>
          </a:prstGeom>
        </p:spPr>
        <p:txBody>
          <a:bodyPr anchor="t" rtlCol="false" tIns="0" lIns="0" bIns="0" rIns="0">
            <a:spAutoFit/>
          </a:bodyPr>
          <a:lstStyle/>
          <a:p>
            <a:pPr algn="ctr">
              <a:lnSpc>
                <a:spcPts val="2610"/>
              </a:lnSpc>
            </a:pPr>
            <a:r>
              <a:rPr lang="en-US" sz="1800" spc="379">
                <a:solidFill>
                  <a:srgbClr val="FFFFFF"/>
                </a:solidFill>
                <a:latin typeface="Muli"/>
                <a:ea typeface="Muli"/>
                <a:cs typeface="Muli"/>
                <a:sym typeface="Muli"/>
              </a:rPr>
              <a:t>PRESENTATION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grpSp>
        <p:nvGrpSpPr>
          <p:cNvPr name="Group 3" id="3"/>
          <p:cNvGrpSpPr/>
          <p:nvPr/>
        </p:nvGrpSpPr>
        <p:grpSpPr>
          <a:xfrm rot="0">
            <a:off x="-527745" y="3894867"/>
            <a:ext cx="9043427" cy="9043427"/>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49812" r="0" b="0"/>
              </a:stretch>
            </a:blipFill>
          </p:spPr>
        </p:sp>
      </p:grpSp>
      <p:sp>
        <p:nvSpPr>
          <p:cNvPr name="TextBox 5" id="5"/>
          <p:cNvSpPr txBox="true"/>
          <p:nvPr/>
        </p:nvSpPr>
        <p:spPr>
          <a:xfrm rot="0">
            <a:off x="1958325" y="1663131"/>
            <a:ext cx="5985375" cy="1217143"/>
          </a:xfrm>
          <a:prstGeom prst="rect">
            <a:avLst/>
          </a:prstGeom>
        </p:spPr>
        <p:txBody>
          <a:bodyPr anchor="t" rtlCol="false" tIns="0" lIns="0" bIns="0" rIns="0">
            <a:spAutoFit/>
          </a:bodyPr>
          <a:lstStyle/>
          <a:p>
            <a:pPr algn="l">
              <a:lnSpc>
                <a:spcPts val="9413"/>
              </a:lnSpc>
            </a:pPr>
            <a:r>
              <a:rPr lang="en-US" sz="8185">
                <a:solidFill>
                  <a:srgbClr val="FFFFFF"/>
                </a:solidFill>
                <a:latin typeface="League Gothic"/>
                <a:ea typeface="League Gothic"/>
                <a:cs typeface="League Gothic"/>
                <a:sym typeface="League Gothic"/>
              </a:rPr>
              <a:t>PROJECT OVERVIEW</a:t>
            </a:r>
          </a:p>
        </p:txBody>
      </p:sp>
      <p:sp>
        <p:nvSpPr>
          <p:cNvPr name="TextBox 6" id="6"/>
          <p:cNvSpPr txBox="true"/>
          <p:nvPr/>
        </p:nvSpPr>
        <p:spPr>
          <a:xfrm rot="0">
            <a:off x="8128193" y="3856767"/>
            <a:ext cx="9131107" cy="4356100"/>
          </a:xfrm>
          <a:prstGeom prst="rect">
            <a:avLst/>
          </a:prstGeom>
        </p:spPr>
        <p:txBody>
          <a:bodyPr anchor="t" rtlCol="false" tIns="0" lIns="0" bIns="0" rIns="0">
            <a:spAutoFit/>
          </a:bodyPr>
          <a:lstStyle/>
          <a:p>
            <a:pPr algn="l">
              <a:lnSpc>
                <a:spcPts val="3499"/>
              </a:lnSpc>
            </a:pPr>
            <a:r>
              <a:rPr lang="en-US" sz="2499">
                <a:solidFill>
                  <a:srgbClr val="FFFFFF"/>
                </a:solidFill>
                <a:latin typeface="Muli"/>
                <a:ea typeface="Muli"/>
                <a:cs typeface="Muli"/>
                <a:sym typeface="Muli"/>
              </a:rPr>
              <a:t>Diabetes is considered one of the most common chronic diseases worldwide. Early prediction and diagnosis of diabetes can help reduce serious complications and improve patient healthcare.</a:t>
            </a:r>
          </a:p>
          <a:p>
            <a:pPr algn="l">
              <a:lnSpc>
                <a:spcPts val="3499"/>
              </a:lnSpc>
            </a:pPr>
          </a:p>
          <a:p>
            <a:pPr algn="l">
              <a:lnSpc>
                <a:spcPts val="3499"/>
              </a:lnSpc>
            </a:pPr>
            <a:r>
              <a:rPr lang="en-US" sz="2499">
                <a:solidFill>
                  <a:srgbClr val="FFFFFF"/>
                </a:solidFill>
                <a:latin typeface="Muli"/>
                <a:ea typeface="Muli"/>
                <a:cs typeface="Muli"/>
                <a:sym typeface="Muli"/>
              </a:rPr>
              <a:t>This project aims to develop a machine learning model capable of predicting diabetes based on clinical and demographic patient data. The project includes data preprocessing, exploratory data analysis, feature engineering, model training, evaluation, and deployment using Streamlit.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grpSp>
        <p:nvGrpSpPr>
          <p:cNvPr name="Group 3" id="3"/>
          <p:cNvGrpSpPr/>
          <p:nvPr/>
        </p:nvGrpSpPr>
        <p:grpSpPr>
          <a:xfrm rot="0">
            <a:off x="10470272" y="3894867"/>
            <a:ext cx="9043427" cy="9043427"/>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5046" t="0" r="-25046" b="0"/>
              </a:stretch>
            </a:blipFill>
          </p:spPr>
        </p:sp>
      </p:grpSp>
      <p:sp>
        <p:nvSpPr>
          <p:cNvPr name="TextBox 5" id="5"/>
          <p:cNvSpPr txBox="true"/>
          <p:nvPr/>
        </p:nvSpPr>
        <p:spPr>
          <a:xfrm rot="0">
            <a:off x="1958325" y="1066262"/>
            <a:ext cx="5985375" cy="2410880"/>
          </a:xfrm>
          <a:prstGeom prst="rect">
            <a:avLst/>
          </a:prstGeom>
        </p:spPr>
        <p:txBody>
          <a:bodyPr anchor="t" rtlCol="false" tIns="0" lIns="0" bIns="0" rIns="0">
            <a:spAutoFit/>
          </a:bodyPr>
          <a:lstStyle/>
          <a:p>
            <a:pPr algn="l">
              <a:lnSpc>
                <a:spcPts val="9413"/>
              </a:lnSpc>
            </a:pPr>
            <a:r>
              <a:rPr lang="en-US" sz="8185">
                <a:solidFill>
                  <a:srgbClr val="FFFFFF"/>
                </a:solidFill>
                <a:latin typeface="League Gothic"/>
                <a:ea typeface="League Gothic"/>
                <a:cs typeface="League Gothic"/>
                <a:sym typeface="League Gothic"/>
              </a:rPr>
              <a:t> PROBLEM STATEMENT</a:t>
            </a:r>
          </a:p>
        </p:txBody>
      </p:sp>
      <p:sp>
        <p:nvSpPr>
          <p:cNvPr name="TextBox 6" id="6"/>
          <p:cNvSpPr txBox="true"/>
          <p:nvPr/>
        </p:nvSpPr>
        <p:spPr>
          <a:xfrm rot="0">
            <a:off x="724795" y="4230798"/>
            <a:ext cx="8419205" cy="4448676"/>
          </a:xfrm>
          <a:prstGeom prst="rect">
            <a:avLst/>
          </a:prstGeom>
        </p:spPr>
        <p:txBody>
          <a:bodyPr anchor="t" rtlCol="false" tIns="0" lIns="0" bIns="0" rIns="0">
            <a:spAutoFit/>
          </a:bodyPr>
          <a:lstStyle/>
          <a:p>
            <a:pPr algn="l" marL="554382" indent="-277191" lvl="1">
              <a:lnSpc>
                <a:spcPts val="3594"/>
              </a:lnSpc>
              <a:buFont typeface="Arial"/>
              <a:buChar char="•"/>
            </a:pPr>
            <a:r>
              <a:rPr lang="en-US" sz="2567">
                <a:solidFill>
                  <a:srgbClr val="FFFFFF"/>
                </a:solidFill>
                <a:latin typeface="Muli"/>
                <a:ea typeface="Muli"/>
                <a:cs typeface="Muli"/>
                <a:sym typeface="Muli"/>
              </a:rPr>
              <a:t>The main objective of this project is to answer the following question:</a:t>
            </a:r>
          </a:p>
          <a:p>
            <a:pPr algn="l">
              <a:lnSpc>
                <a:spcPts val="3594"/>
              </a:lnSpc>
            </a:pPr>
          </a:p>
          <a:p>
            <a:pPr algn="l" marL="554382" indent="-277191" lvl="1">
              <a:lnSpc>
                <a:spcPts val="3594"/>
              </a:lnSpc>
              <a:buFont typeface="Arial"/>
              <a:buChar char="•"/>
            </a:pPr>
            <a:r>
              <a:rPr lang="en-US" sz="2567">
                <a:solidFill>
                  <a:srgbClr val="FFFFFF"/>
                </a:solidFill>
                <a:latin typeface="Muli"/>
                <a:ea typeface="Muli"/>
                <a:cs typeface="Muli"/>
                <a:sym typeface="Muli"/>
              </a:rPr>
              <a:t>Can machine learning algorithms accurately predict whether a patient is diabetic based on medical and demographic features?</a:t>
            </a:r>
          </a:p>
          <a:p>
            <a:pPr algn="l">
              <a:lnSpc>
                <a:spcPts val="3594"/>
              </a:lnSpc>
            </a:pPr>
          </a:p>
          <a:p>
            <a:pPr algn="l" marL="554382" indent="-277191" lvl="1">
              <a:lnSpc>
                <a:spcPts val="3594"/>
              </a:lnSpc>
              <a:buFont typeface="Arial"/>
              <a:buChar char="•"/>
            </a:pPr>
            <a:r>
              <a:rPr lang="en-US" sz="2567">
                <a:solidFill>
                  <a:srgbClr val="FFFFFF"/>
                </a:solidFill>
                <a:latin typeface="Muli"/>
                <a:ea typeface="Muli"/>
                <a:cs typeface="Muli"/>
                <a:sym typeface="Muli"/>
              </a:rPr>
              <a:t>This prediction system can support healthcare professionals in early diagnosis and decision-making.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0470272" y="3894867"/>
            <a:ext cx="9043427" cy="9043427"/>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5046" t="0" r="-25046" b="0"/>
              </a:stretch>
            </a:blipFill>
          </p:spPr>
        </p:sp>
      </p:grpSp>
      <p:sp>
        <p:nvSpPr>
          <p:cNvPr name="TextBox 5" id="5"/>
          <p:cNvSpPr txBox="true"/>
          <p:nvPr/>
        </p:nvSpPr>
        <p:spPr>
          <a:xfrm rot="0">
            <a:off x="923926" y="1040272"/>
            <a:ext cx="7655641" cy="1217143"/>
          </a:xfrm>
          <a:prstGeom prst="rect">
            <a:avLst/>
          </a:prstGeom>
        </p:spPr>
        <p:txBody>
          <a:bodyPr anchor="t" rtlCol="false" tIns="0" lIns="0" bIns="0" rIns="0">
            <a:spAutoFit/>
          </a:bodyPr>
          <a:lstStyle/>
          <a:p>
            <a:pPr algn="l">
              <a:lnSpc>
                <a:spcPts val="9413"/>
              </a:lnSpc>
            </a:pPr>
            <a:r>
              <a:rPr lang="en-US" sz="8185">
                <a:solidFill>
                  <a:srgbClr val="FFFFFF"/>
                </a:solidFill>
                <a:latin typeface="League Gothic"/>
                <a:ea typeface="League Gothic"/>
                <a:cs typeface="League Gothic"/>
                <a:sym typeface="League Gothic"/>
              </a:rPr>
              <a:t> DATASET DESCRIPTION</a:t>
            </a:r>
          </a:p>
        </p:txBody>
      </p:sp>
      <p:sp>
        <p:nvSpPr>
          <p:cNvPr name="TextBox 6" id="6"/>
          <p:cNvSpPr txBox="true"/>
          <p:nvPr/>
        </p:nvSpPr>
        <p:spPr>
          <a:xfrm rot="0">
            <a:off x="372832" y="2442947"/>
            <a:ext cx="10097440" cy="7423150"/>
          </a:xfrm>
          <a:prstGeom prst="rect">
            <a:avLst/>
          </a:prstGeom>
        </p:spPr>
        <p:txBody>
          <a:bodyPr anchor="t" rtlCol="false" tIns="0" lIns="0" bIns="0" rIns="0">
            <a:spAutoFit/>
          </a:bodyPr>
          <a:lstStyle/>
          <a:p>
            <a:pPr algn="l">
              <a:lnSpc>
                <a:spcPts val="3499"/>
              </a:lnSpc>
            </a:pPr>
            <a:r>
              <a:rPr lang="en-US" sz="2499">
                <a:solidFill>
                  <a:srgbClr val="FFFFFF"/>
                </a:solidFill>
                <a:latin typeface="Muli"/>
                <a:ea typeface="Muli"/>
                <a:cs typeface="Muli"/>
                <a:sym typeface="Muli"/>
              </a:rPr>
              <a:t>Dataset Name:</a:t>
            </a:r>
          </a:p>
          <a:p>
            <a:pPr algn="l">
              <a:lnSpc>
                <a:spcPts val="3499"/>
              </a:lnSpc>
            </a:pPr>
            <a:r>
              <a:rPr lang="en-US" sz="2499">
                <a:solidFill>
                  <a:srgbClr val="FFFFFF"/>
                </a:solidFill>
                <a:latin typeface="Muli"/>
                <a:ea typeface="Muli"/>
                <a:cs typeface="Muli"/>
                <a:sym typeface="Muli"/>
              </a:rPr>
              <a:t>Comp</a:t>
            </a:r>
            <a:r>
              <a:rPr lang="en-US" sz="2499">
                <a:solidFill>
                  <a:srgbClr val="FFFFFF"/>
                </a:solidFill>
                <a:latin typeface="Muli"/>
                <a:ea typeface="Muli"/>
                <a:cs typeface="Muli"/>
                <a:sym typeface="Muli"/>
              </a:rPr>
              <a:t>rehensive Diabetes Clinical Dataset (100k rows)</a:t>
            </a:r>
          </a:p>
          <a:p>
            <a:pPr algn="l">
              <a:lnSpc>
                <a:spcPts val="3499"/>
              </a:lnSpc>
            </a:pPr>
          </a:p>
          <a:p>
            <a:pPr algn="l">
              <a:lnSpc>
                <a:spcPts val="3499"/>
              </a:lnSpc>
            </a:pPr>
            <a:r>
              <a:rPr lang="en-US" sz="2499">
                <a:solidFill>
                  <a:srgbClr val="FFFFFF"/>
                </a:solidFill>
                <a:latin typeface="Muli"/>
                <a:ea typeface="Muli"/>
                <a:cs typeface="Muli"/>
                <a:sym typeface="Muli"/>
              </a:rPr>
              <a:t>Source:</a:t>
            </a:r>
          </a:p>
          <a:p>
            <a:pPr algn="l">
              <a:lnSpc>
                <a:spcPts val="3499"/>
              </a:lnSpc>
            </a:pPr>
            <a:r>
              <a:rPr lang="en-US" sz="2499">
                <a:solidFill>
                  <a:srgbClr val="FFFFFF"/>
                </a:solidFill>
                <a:latin typeface="Muli"/>
                <a:ea typeface="Muli"/>
                <a:cs typeface="Muli"/>
                <a:sym typeface="Muli"/>
              </a:rPr>
              <a:t>Kaggle</a:t>
            </a:r>
          </a:p>
          <a:p>
            <a:pPr algn="l">
              <a:lnSpc>
                <a:spcPts val="3499"/>
              </a:lnSpc>
            </a:pPr>
          </a:p>
          <a:p>
            <a:pPr algn="l">
              <a:lnSpc>
                <a:spcPts val="3499"/>
              </a:lnSpc>
            </a:pPr>
            <a:r>
              <a:rPr lang="en-US" sz="2499">
                <a:solidFill>
                  <a:srgbClr val="FFFFFF"/>
                </a:solidFill>
                <a:latin typeface="Muli"/>
                <a:ea typeface="Muli"/>
                <a:cs typeface="Muli"/>
                <a:sym typeface="Muli"/>
              </a:rPr>
              <a:t>Dataset Characteristics:</a:t>
            </a:r>
          </a:p>
          <a:p>
            <a:pPr algn="l">
              <a:lnSpc>
                <a:spcPts val="3499"/>
              </a:lnSpc>
            </a:pPr>
            <a:r>
              <a:rPr lang="en-US" sz="2499">
                <a:solidFill>
                  <a:srgbClr val="FFFFFF"/>
                </a:solidFill>
                <a:latin typeface="Muli"/>
                <a:ea typeface="Muli"/>
                <a:cs typeface="Muli"/>
                <a:sym typeface="Muli"/>
              </a:rPr>
              <a:t>• More than 100,000 patient records</a:t>
            </a:r>
          </a:p>
          <a:p>
            <a:pPr algn="l">
              <a:lnSpc>
                <a:spcPts val="3499"/>
              </a:lnSpc>
            </a:pPr>
            <a:r>
              <a:rPr lang="en-US" sz="2499">
                <a:solidFill>
                  <a:srgbClr val="FFFFFF"/>
                </a:solidFill>
                <a:latin typeface="Muli"/>
                <a:ea typeface="Muli"/>
                <a:cs typeface="Muli"/>
                <a:sym typeface="Muli"/>
              </a:rPr>
              <a:t>• More than 10 clinical and demographic features</a:t>
            </a:r>
          </a:p>
          <a:p>
            <a:pPr algn="l">
              <a:lnSpc>
                <a:spcPts val="3499"/>
              </a:lnSpc>
            </a:pPr>
            <a:r>
              <a:rPr lang="en-US" sz="2499">
                <a:solidFill>
                  <a:srgbClr val="FFFFFF"/>
                </a:solidFill>
                <a:latin typeface="Muli"/>
                <a:ea typeface="Muli"/>
                <a:cs typeface="Muli"/>
                <a:sym typeface="Muli"/>
              </a:rPr>
              <a:t>• Real-world healthcare-related data</a:t>
            </a:r>
          </a:p>
          <a:p>
            <a:pPr algn="l">
              <a:lnSpc>
                <a:spcPts val="3499"/>
              </a:lnSpc>
            </a:pPr>
            <a:r>
              <a:rPr lang="en-US" sz="2499">
                <a:solidFill>
                  <a:srgbClr val="FFFFFF"/>
                </a:solidFill>
                <a:latin typeface="Muli"/>
                <a:ea typeface="Muli"/>
                <a:cs typeface="Muli"/>
                <a:sym typeface="Muli"/>
              </a:rPr>
              <a:t>• Contains categorical and numerical variables</a:t>
            </a:r>
          </a:p>
          <a:p>
            <a:pPr algn="l">
              <a:lnSpc>
                <a:spcPts val="3499"/>
              </a:lnSpc>
            </a:pPr>
            <a:r>
              <a:rPr lang="en-US" sz="2499">
                <a:solidFill>
                  <a:srgbClr val="FFFFFF"/>
                </a:solidFill>
                <a:latin typeface="Muli"/>
                <a:ea typeface="Muli"/>
                <a:cs typeface="Muli"/>
                <a:sym typeface="Muli"/>
              </a:rPr>
              <a:t>• Includes missing values and data imbalance</a:t>
            </a:r>
          </a:p>
          <a:p>
            <a:pPr algn="l">
              <a:lnSpc>
                <a:spcPts val="3499"/>
              </a:lnSpc>
            </a:pPr>
          </a:p>
          <a:p>
            <a:pPr algn="l">
              <a:lnSpc>
                <a:spcPts val="3499"/>
              </a:lnSpc>
            </a:pPr>
            <a:r>
              <a:rPr lang="en-US" sz="2499">
                <a:solidFill>
                  <a:srgbClr val="FFFFFF"/>
                </a:solidFill>
                <a:latin typeface="Muli"/>
                <a:ea typeface="Muli"/>
                <a:cs typeface="Muli"/>
                <a:sym typeface="Muli"/>
              </a:rPr>
              <a:t>Target Variable:</a:t>
            </a:r>
          </a:p>
          <a:p>
            <a:pPr algn="l">
              <a:lnSpc>
                <a:spcPts val="3499"/>
              </a:lnSpc>
            </a:pPr>
            <a:r>
              <a:rPr lang="en-US" sz="2499">
                <a:solidFill>
                  <a:srgbClr val="FFFFFF"/>
                </a:solidFill>
                <a:latin typeface="Muli"/>
                <a:ea typeface="Muli"/>
                <a:cs typeface="Muli"/>
                <a:sym typeface="Muli"/>
              </a:rPr>
              <a:t>Diabetes</a:t>
            </a:r>
          </a:p>
          <a:p>
            <a:pPr algn="l">
              <a:lnSpc>
                <a:spcPts val="3499"/>
              </a:lnSpc>
            </a:pPr>
            <a:r>
              <a:rPr lang="en-US" sz="2499">
                <a:solidFill>
                  <a:srgbClr val="FFFFFF"/>
                </a:solidFill>
                <a:latin typeface="Muli"/>
                <a:ea typeface="Muli"/>
                <a:cs typeface="Muli"/>
                <a:sym typeface="Muli"/>
              </a:rPr>
              <a:t>0 = Non-diabetic</a:t>
            </a:r>
          </a:p>
          <a:p>
            <a:pPr algn="l">
              <a:lnSpc>
                <a:spcPts val="3499"/>
              </a:lnSpc>
            </a:pPr>
            <a:r>
              <a:rPr lang="en-US" sz="2499">
                <a:solidFill>
                  <a:srgbClr val="FFFFFF"/>
                </a:solidFill>
                <a:latin typeface="Muli"/>
                <a:ea typeface="Muli"/>
                <a:cs typeface="Muli"/>
                <a:sym typeface="Muli"/>
              </a:rPr>
              <a:t>1 = Diabetic</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958325" y="1663131"/>
            <a:ext cx="5985375" cy="1217143"/>
          </a:xfrm>
          <a:prstGeom prst="rect">
            <a:avLst/>
          </a:prstGeom>
        </p:spPr>
        <p:txBody>
          <a:bodyPr anchor="t" rtlCol="false" tIns="0" lIns="0" bIns="0" rIns="0">
            <a:spAutoFit/>
          </a:bodyPr>
          <a:lstStyle/>
          <a:p>
            <a:pPr algn="l">
              <a:lnSpc>
                <a:spcPts val="9413"/>
              </a:lnSpc>
            </a:pPr>
            <a:r>
              <a:rPr lang="en-US" sz="8185">
                <a:solidFill>
                  <a:srgbClr val="FFFFFF"/>
                </a:solidFill>
                <a:latin typeface="League Gothic"/>
                <a:ea typeface="League Gothic"/>
                <a:cs typeface="League Gothic"/>
                <a:sym typeface="League Gothic"/>
              </a:rPr>
              <a:t>FEATURES USED</a:t>
            </a:r>
          </a:p>
        </p:txBody>
      </p:sp>
      <p:sp>
        <p:nvSpPr>
          <p:cNvPr name="TextBox 4" id="4"/>
          <p:cNvSpPr txBox="true"/>
          <p:nvPr/>
        </p:nvSpPr>
        <p:spPr>
          <a:xfrm rot="0">
            <a:off x="524718" y="2842174"/>
            <a:ext cx="10602995" cy="5670550"/>
          </a:xfrm>
          <a:prstGeom prst="rect">
            <a:avLst/>
          </a:prstGeom>
        </p:spPr>
        <p:txBody>
          <a:bodyPr anchor="t" rtlCol="false" tIns="0" lIns="0" bIns="0" rIns="0">
            <a:spAutoFit/>
          </a:bodyPr>
          <a:lstStyle/>
          <a:p>
            <a:pPr algn="l">
              <a:lnSpc>
                <a:spcPts val="3499"/>
              </a:lnSpc>
            </a:pPr>
            <a:r>
              <a:rPr lang="en-US" sz="2499">
                <a:solidFill>
                  <a:srgbClr val="FFFFFF"/>
                </a:solidFill>
                <a:latin typeface="Muli"/>
                <a:ea typeface="Muli"/>
                <a:cs typeface="Muli"/>
                <a:sym typeface="Muli"/>
              </a:rPr>
              <a:t>The dataset includes several important medical and demographic features such as:</a:t>
            </a:r>
          </a:p>
          <a:p>
            <a:pPr algn="l">
              <a:lnSpc>
                <a:spcPts val="3499"/>
              </a:lnSpc>
            </a:pPr>
          </a:p>
          <a:p>
            <a:pPr algn="l">
              <a:lnSpc>
                <a:spcPts val="3499"/>
              </a:lnSpc>
            </a:pPr>
            <a:r>
              <a:rPr lang="en-US" sz="2499">
                <a:solidFill>
                  <a:srgbClr val="FFFFFF"/>
                </a:solidFill>
                <a:latin typeface="Muli"/>
                <a:ea typeface="Muli"/>
                <a:cs typeface="Muli"/>
                <a:sym typeface="Muli"/>
              </a:rPr>
              <a:t>• Age</a:t>
            </a:r>
          </a:p>
          <a:p>
            <a:pPr algn="l">
              <a:lnSpc>
                <a:spcPts val="3499"/>
              </a:lnSpc>
            </a:pPr>
            <a:r>
              <a:rPr lang="en-US" sz="2499">
                <a:solidFill>
                  <a:srgbClr val="FFFFFF"/>
                </a:solidFill>
                <a:latin typeface="Muli"/>
                <a:ea typeface="Muli"/>
                <a:cs typeface="Muli"/>
                <a:sym typeface="Muli"/>
              </a:rPr>
              <a:t>• Gender</a:t>
            </a:r>
          </a:p>
          <a:p>
            <a:pPr algn="l">
              <a:lnSpc>
                <a:spcPts val="3499"/>
              </a:lnSpc>
            </a:pPr>
            <a:r>
              <a:rPr lang="en-US" sz="2499">
                <a:solidFill>
                  <a:srgbClr val="FFFFFF"/>
                </a:solidFill>
                <a:latin typeface="Muli"/>
                <a:ea typeface="Muli"/>
                <a:cs typeface="Muli"/>
                <a:sym typeface="Muli"/>
              </a:rPr>
              <a:t>• Body Mass Index (BMI)</a:t>
            </a:r>
          </a:p>
          <a:p>
            <a:pPr algn="l">
              <a:lnSpc>
                <a:spcPts val="3499"/>
              </a:lnSpc>
            </a:pPr>
            <a:r>
              <a:rPr lang="en-US" sz="2499">
                <a:solidFill>
                  <a:srgbClr val="FFFFFF"/>
                </a:solidFill>
                <a:latin typeface="Muli"/>
                <a:ea typeface="Muli"/>
                <a:cs typeface="Muli"/>
                <a:sym typeface="Muli"/>
              </a:rPr>
              <a:t>• Hypertension</a:t>
            </a:r>
          </a:p>
          <a:p>
            <a:pPr algn="l">
              <a:lnSpc>
                <a:spcPts val="3499"/>
              </a:lnSpc>
            </a:pPr>
            <a:r>
              <a:rPr lang="en-US" sz="2499">
                <a:solidFill>
                  <a:srgbClr val="FFFFFF"/>
                </a:solidFill>
                <a:latin typeface="Muli"/>
                <a:ea typeface="Muli"/>
                <a:cs typeface="Muli"/>
                <a:sym typeface="Muli"/>
              </a:rPr>
              <a:t>• Heart Disease</a:t>
            </a:r>
          </a:p>
          <a:p>
            <a:pPr algn="l">
              <a:lnSpc>
                <a:spcPts val="3499"/>
              </a:lnSpc>
            </a:pPr>
            <a:r>
              <a:rPr lang="en-US" sz="2499">
                <a:solidFill>
                  <a:srgbClr val="FFFFFF"/>
                </a:solidFill>
                <a:latin typeface="Muli"/>
                <a:ea typeface="Muli"/>
                <a:cs typeface="Muli"/>
                <a:sym typeface="Muli"/>
              </a:rPr>
              <a:t>• Smoking History</a:t>
            </a:r>
          </a:p>
          <a:p>
            <a:pPr algn="l">
              <a:lnSpc>
                <a:spcPts val="3499"/>
              </a:lnSpc>
            </a:pPr>
            <a:r>
              <a:rPr lang="en-US" sz="2499">
                <a:solidFill>
                  <a:srgbClr val="FFFFFF"/>
                </a:solidFill>
                <a:latin typeface="Muli"/>
                <a:ea typeface="Muli"/>
                <a:cs typeface="Muli"/>
                <a:sym typeface="Muli"/>
              </a:rPr>
              <a:t>• HbA1c Level</a:t>
            </a:r>
          </a:p>
          <a:p>
            <a:pPr algn="l">
              <a:lnSpc>
                <a:spcPts val="3499"/>
              </a:lnSpc>
            </a:pPr>
            <a:r>
              <a:rPr lang="en-US" sz="2499">
                <a:solidFill>
                  <a:srgbClr val="FFFFFF"/>
                </a:solidFill>
                <a:latin typeface="Muli"/>
                <a:ea typeface="Muli"/>
                <a:cs typeface="Muli"/>
                <a:sym typeface="Muli"/>
              </a:rPr>
              <a:t>• Blood Glucose Level</a:t>
            </a:r>
          </a:p>
          <a:p>
            <a:pPr algn="l">
              <a:lnSpc>
                <a:spcPts val="3499"/>
              </a:lnSpc>
            </a:pPr>
          </a:p>
          <a:p>
            <a:pPr algn="l">
              <a:lnSpc>
                <a:spcPts val="3499"/>
              </a:lnSpc>
            </a:pPr>
            <a:r>
              <a:rPr lang="en-US" sz="2499">
                <a:solidFill>
                  <a:srgbClr val="FFFFFF"/>
                </a:solidFill>
                <a:latin typeface="Muli"/>
                <a:ea typeface="Muli"/>
                <a:cs typeface="Muli"/>
                <a:sym typeface="Muli"/>
              </a:rPr>
              <a:t>These features are highly related to diabetes diagnosis and prediction.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9875428" y="7157067"/>
            <a:ext cx="8661892" cy="2788041"/>
          </a:xfrm>
          <a:custGeom>
            <a:avLst/>
            <a:gdLst/>
            <a:ahLst/>
            <a:cxnLst/>
            <a:rect r="r" b="b" t="t" l="l"/>
            <a:pathLst>
              <a:path h="2788041" w="8661892">
                <a:moveTo>
                  <a:pt x="0" y="0"/>
                </a:moveTo>
                <a:lnTo>
                  <a:pt x="8661892" y="0"/>
                </a:lnTo>
                <a:lnTo>
                  <a:pt x="8661892" y="2788041"/>
                </a:lnTo>
                <a:lnTo>
                  <a:pt x="0" y="2788041"/>
                </a:lnTo>
                <a:lnTo>
                  <a:pt x="0" y="0"/>
                </a:lnTo>
                <a:close/>
              </a:path>
            </a:pathLst>
          </a:custGeom>
          <a:blipFill>
            <a:blip r:embed="rId3"/>
            <a:stretch>
              <a:fillRect l="-8786" t="0" r="0" b="0"/>
            </a:stretch>
          </a:blipFill>
        </p:spPr>
      </p:sp>
      <p:sp>
        <p:nvSpPr>
          <p:cNvPr name="Freeform 4" id="4"/>
          <p:cNvSpPr/>
          <p:nvPr/>
        </p:nvSpPr>
        <p:spPr>
          <a:xfrm flipH="false" flipV="false" rot="0">
            <a:off x="13710293" y="1166359"/>
            <a:ext cx="4285311" cy="5748307"/>
          </a:xfrm>
          <a:custGeom>
            <a:avLst/>
            <a:gdLst/>
            <a:ahLst/>
            <a:cxnLst/>
            <a:rect r="r" b="b" t="t" l="l"/>
            <a:pathLst>
              <a:path h="5748307" w="4285311">
                <a:moveTo>
                  <a:pt x="0" y="0"/>
                </a:moveTo>
                <a:lnTo>
                  <a:pt x="4285311" y="0"/>
                </a:lnTo>
                <a:lnTo>
                  <a:pt x="4285311" y="5748306"/>
                </a:lnTo>
                <a:lnTo>
                  <a:pt x="0" y="5748306"/>
                </a:lnTo>
                <a:lnTo>
                  <a:pt x="0" y="0"/>
                </a:lnTo>
                <a:close/>
              </a:path>
            </a:pathLst>
          </a:custGeom>
          <a:blipFill>
            <a:blip r:embed="rId4"/>
            <a:stretch>
              <a:fillRect l="0" t="0" r="0" b="0"/>
            </a:stretch>
          </a:blipFill>
        </p:spPr>
      </p:sp>
      <p:sp>
        <p:nvSpPr>
          <p:cNvPr name="TextBox 5" id="5"/>
          <p:cNvSpPr txBox="true"/>
          <p:nvPr/>
        </p:nvSpPr>
        <p:spPr>
          <a:xfrm rot="0">
            <a:off x="1958325" y="1663131"/>
            <a:ext cx="5985375" cy="1217143"/>
          </a:xfrm>
          <a:prstGeom prst="rect">
            <a:avLst/>
          </a:prstGeom>
        </p:spPr>
        <p:txBody>
          <a:bodyPr anchor="t" rtlCol="false" tIns="0" lIns="0" bIns="0" rIns="0">
            <a:spAutoFit/>
          </a:bodyPr>
          <a:lstStyle/>
          <a:p>
            <a:pPr algn="l">
              <a:lnSpc>
                <a:spcPts val="9413"/>
              </a:lnSpc>
            </a:pPr>
            <a:r>
              <a:rPr lang="en-US" sz="8185">
                <a:solidFill>
                  <a:srgbClr val="FFFFFF"/>
                </a:solidFill>
                <a:latin typeface="League Gothic"/>
                <a:ea typeface="League Gothic"/>
                <a:cs typeface="League Gothic"/>
                <a:sym typeface="League Gothic"/>
              </a:rPr>
              <a:t> DATA CLEANING</a:t>
            </a:r>
          </a:p>
        </p:txBody>
      </p:sp>
      <p:sp>
        <p:nvSpPr>
          <p:cNvPr name="TextBox 6" id="6"/>
          <p:cNvSpPr txBox="true"/>
          <p:nvPr/>
        </p:nvSpPr>
        <p:spPr>
          <a:xfrm rot="0">
            <a:off x="393229" y="3758315"/>
            <a:ext cx="9202660" cy="6284125"/>
          </a:xfrm>
          <a:prstGeom prst="rect">
            <a:avLst/>
          </a:prstGeom>
        </p:spPr>
        <p:txBody>
          <a:bodyPr anchor="t" rtlCol="false" tIns="0" lIns="0" bIns="0" rIns="0">
            <a:spAutoFit/>
          </a:bodyPr>
          <a:lstStyle/>
          <a:p>
            <a:pPr algn="l">
              <a:lnSpc>
                <a:spcPts val="4153"/>
              </a:lnSpc>
            </a:pPr>
            <a:r>
              <a:rPr lang="en-US" sz="3194">
                <a:solidFill>
                  <a:srgbClr val="FFFFFF"/>
                </a:solidFill>
                <a:latin typeface="Muli"/>
                <a:ea typeface="Muli"/>
                <a:cs typeface="Muli"/>
                <a:sym typeface="Muli"/>
              </a:rPr>
              <a:t>Data preprocessing and cleaning steps included:</a:t>
            </a:r>
          </a:p>
          <a:p>
            <a:pPr algn="l">
              <a:lnSpc>
                <a:spcPts val="4153"/>
              </a:lnSpc>
            </a:pPr>
          </a:p>
          <a:p>
            <a:pPr algn="l">
              <a:lnSpc>
                <a:spcPts val="4153"/>
              </a:lnSpc>
            </a:pPr>
            <a:r>
              <a:rPr lang="en-US" sz="3194">
                <a:solidFill>
                  <a:srgbClr val="FFFFFF"/>
                </a:solidFill>
                <a:latin typeface="Muli"/>
                <a:ea typeface="Muli"/>
                <a:cs typeface="Muli"/>
                <a:sym typeface="Muli"/>
              </a:rPr>
              <a:t>• Handling missing values</a:t>
            </a:r>
          </a:p>
          <a:p>
            <a:pPr algn="l">
              <a:lnSpc>
                <a:spcPts val="4153"/>
              </a:lnSpc>
            </a:pPr>
            <a:r>
              <a:rPr lang="en-US" sz="3194">
                <a:solidFill>
                  <a:srgbClr val="FFFFFF"/>
                </a:solidFill>
                <a:latin typeface="Muli"/>
                <a:ea typeface="Muli"/>
                <a:cs typeface="Muli"/>
                <a:sym typeface="Muli"/>
              </a:rPr>
              <a:t>• Removing duplicated records</a:t>
            </a:r>
          </a:p>
          <a:p>
            <a:pPr algn="l">
              <a:lnSpc>
                <a:spcPts val="4153"/>
              </a:lnSpc>
            </a:pPr>
            <a:r>
              <a:rPr lang="en-US" sz="3194">
                <a:solidFill>
                  <a:srgbClr val="FFFFFF"/>
                </a:solidFill>
                <a:latin typeface="Muli"/>
                <a:ea typeface="Muli"/>
                <a:cs typeface="Muli"/>
                <a:sym typeface="Muli"/>
              </a:rPr>
              <a:t>• Checking data consistency</a:t>
            </a:r>
          </a:p>
          <a:p>
            <a:pPr algn="l">
              <a:lnSpc>
                <a:spcPts val="4153"/>
              </a:lnSpc>
            </a:pPr>
            <a:r>
              <a:rPr lang="en-US" sz="3194">
                <a:solidFill>
                  <a:srgbClr val="FFFFFF"/>
                </a:solidFill>
                <a:latin typeface="Muli"/>
                <a:ea typeface="Muli"/>
                <a:cs typeface="Muli"/>
                <a:sym typeface="Muli"/>
              </a:rPr>
              <a:t>• Converting categorical variables into numerical format</a:t>
            </a:r>
          </a:p>
          <a:p>
            <a:pPr algn="l">
              <a:lnSpc>
                <a:spcPts val="4153"/>
              </a:lnSpc>
            </a:pPr>
            <a:r>
              <a:rPr lang="en-US" sz="3194">
                <a:solidFill>
                  <a:srgbClr val="FFFFFF"/>
                </a:solidFill>
                <a:latin typeface="Muli"/>
                <a:ea typeface="Muli"/>
                <a:cs typeface="Muli"/>
                <a:sym typeface="Muli"/>
              </a:rPr>
              <a:t>• Scaling numerical features using StandardScaler</a:t>
            </a:r>
          </a:p>
          <a:p>
            <a:pPr algn="l">
              <a:lnSpc>
                <a:spcPts val="4153"/>
              </a:lnSpc>
            </a:pPr>
          </a:p>
          <a:p>
            <a:pPr algn="l">
              <a:lnSpc>
                <a:spcPts val="4153"/>
              </a:lnSpc>
            </a:pPr>
            <a:r>
              <a:rPr lang="en-US" sz="3194">
                <a:solidFill>
                  <a:srgbClr val="FFFFFF"/>
                </a:solidFill>
                <a:latin typeface="Muli"/>
                <a:ea typeface="Muli"/>
                <a:cs typeface="Muli"/>
                <a:sym typeface="Muli"/>
              </a:rPr>
              <a:t>These steps improved data quality and model performance.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2392136" y="424863"/>
            <a:ext cx="5895864" cy="4554530"/>
          </a:xfrm>
          <a:custGeom>
            <a:avLst/>
            <a:gdLst/>
            <a:ahLst/>
            <a:cxnLst/>
            <a:rect r="r" b="b" t="t" l="l"/>
            <a:pathLst>
              <a:path h="4554530" w="5895864">
                <a:moveTo>
                  <a:pt x="0" y="0"/>
                </a:moveTo>
                <a:lnTo>
                  <a:pt x="5895864" y="0"/>
                </a:lnTo>
                <a:lnTo>
                  <a:pt x="5895864" y="4554530"/>
                </a:lnTo>
                <a:lnTo>
                  <a:pt x="0" y="4554530"/>
                </a:lnTo>
                <a:lnTo>
                  <a:pt x="0" y="0"/>
                </a:lnTo>
                <a:close/>
              </a:path>
            </a:pathLst>
          </a:custGeom>
          <a:blipFill>
            <a:blip r:embed="rId3"/>
            <a:stretch>
              <a:fillRect l="0" t="0" r="0" b="0"/>
            </a:stretch>
          </a:blipFill>
        </p:spPr>
      </p:sp>
      <p:sp>
        <p:nvSpPr>
          <p:cNvPr name="Freeform 4" id="4"/>
          <p:cNvSpPr/>
          <p:nvPr/>
        </p:nvSpPr>
        <p:spPr>
          <a:xfrm flipH="false" flipV="false" rot="0">
            <a:off x="11822257" y="5143500"/>
            <a:ext cx="6465743" cy="4994759"/>
          </a:xfrm>
          <a:custGeom>
            <a:avLst/>
            <a:gdLst/>
            <a:ahLst/>
            <a:cxnLst/>
            <a:rect r="r" b="b" t="t" l="l"/>
            <a:pathLst>
              <a:path h="4994759" w="6465743">
                <a:moveTo>
                  <a:pt x="0" y="0"/>
                </a:moveTo>
                <a:lnTo>
                  <a:pt x="6465743" y="0"/>
                </a:lnTo>
                <a:lnTo>
                  <a:pt x="6465743" y="4994759"/>
                </a:lnTo>
                <a:lnTo>
                  <a:pt x="0" y="4994759"/>
                </a:lnTo>
                <a:lnTo>
                  <a:pt x="0" y="0"/>
                </a:lnTo>
                <a:close/>
              </a:path>
            </a:pathLst>
          </a:custGeom>
          <a:blipFill>
            <a:blip r:embed="rId4"/>
            <a:stretch>
              <a:fillRect l="0" t="0" r="0" b="0"/>
            </a:stretch>
          </a:blipFill>
        </p:spPr>
      </p:sp>
      <p:sp>
        <p:nvSpPr>
          <p:cNvPr name="TextBox 5" id="5"/>
          <p:cNvSpPr txBox="true"/>
          <p:nvPr/>
        </p:nvSpPr>
        <p:spPr>
          <a:xfrm rot="0">
            <a:off x="346599" y="291248"/>
            <a:ext cx="5985375" cy="2410880"/>
          </a:xfrm>
          <a:prstGeom prst="rect">
            <a:avLst/>
          </a:prstGeom>
        </p:spPr>
        <p:txBody>
          <a:bodyPr anchor="t" rtlCol="false" tIns="0" lIns="0" bIns="0" rIns="0">
            <a:spAutoFit/>
          </a:bodyPr>
          <a:lstStyle/>
          <a:p>
            <a:pPr algn="l">
              <a:lnSpc>
                <a:spcPts val="9413"/>
              </a:lnSpc>
            </a:pPr>
            <a:r>
              <a:rPr lang="en-US" sz="8185">
                <a:solidFill>
                  <a:srgbClr val="FFFFFF"/>
                </a:solidFill>
                <a:latin typeface="League Gothic"/>
                <a:ea typeface="League Gothic"/>
                <a:cs typeface="League Gothic"/>
                <a:sym typeface="League Gothic"/>
              </a:rPr>
              <a:t>EXPLORATORY DATA ANALYSIS (EDA</a:t>
            </a:r>
          </a:p>
        </p:txBody>
      </p:sp>
      <p:sp>
        <p:nvSpPr>
          <p:cNvPr name="TextBox 6" id="6"/>
          <p:cNvSpPr txBox="true"/>
          <p:nvPr/>
        </p:nvSpPr>
        <p:spPr>
          <a:xfrm rot="0">
            <a:off x="346599" y="3634720"/>
            <a:ext cx="7597102" cy="6108700"/>
          </a:xfrm>
          <a:prstGeom prst="rect">
            <a:avLst/>
          </a:prstGeom>
        </p:spPr>
        <p:txBody>
          <a:bodyPr anchor="t" rtlCol="false" tIns="0" lIns="0" bIns="0" rIns="0">
            <a:spAutoFit/>
          </a:bodyPr>
          <a:lstStyle/>
          <a:p>
            <a:pPr algn="l">
              <a:lnSpc>
                <a:spcPts val="3499"/>
              </a:lnSpc>
            </a:pPr>
            <a:r>
              <a:rPr lang="en-US" sz="2499">
                <a:solidFill>
                  <a:srgbClr val="FFFFFF"/>
                </a:solidFill>
                <a:latin typeface="Muli"/>
                <a:ea typeface="Muli"/>
                <a:cs typeface="Muli"/>
                <a:sym typeface="Muli"/>
              </a:rPr>
              <a:t>Exploratory Data Analysis was performed to understand the dataset and identify patterns.</a:t>
            </a:r>
          </a:p>
          <a:p>
            <a:pPr algn="l">
              <a:lnSpc>
                <a:spcPts val="3499"/>
              </a:lnSpc>
            </a:pPr>
          </a:p>
          <a:p>
            <a:pPr algn="l">
              <a:lnSpc>
                <a:spcPts val="3499"/>
              </a:lnSpc>
            </a:pPr>
            <a:r>
              <a:rPr lang="en-US" sz="2499">
                <a:solidFill>
                  <a:srgbClr val="FFFFFF"/>
                </a:solidFill>
                <a:latin typeface="Muli"/>
                <a:ea typeface="Muli"/>
                <a:cs typeface="Muli"/>
                <a:sym typeface="Muli"/>
              </a:rPr>
              <a:t>The analysis included:</a:t>
            </a:r>
          </a:p>
          <a:p>
            <a:pPr algn="l">
              <a:lnSpc>
                <a:spcPts val="3499"/>
              </a:lnSpc>
            </a:pPr>
            <a:r>
              <a:rPr lang="en-US" sz="2499">
                <a:solidFill>
                  <a:srgbClr val="FFFFFF"/>
                </a:solidFill>
                <a:latin typeface="Muli"/>
                <a:ea typeface="Muli"/>
                <a:cs typeface="Muli"/>
                <a:sym typeface="Muli"/>
              </a:rPr>
              <a:t>• Univariate analysis</a:t>
            </a:r>
          </a:p>
          <a:p>
            <a:pPr algn="l">
              <a:lnSpc>
                <a:spcPts val="3499"/>
              </a:lnSpc>
            </a:pPr>
            <a:r>
              <a:rPr lang="en-US" sz="2499">
                <a:solidFill>
                  <a:srgbClr val="FFFFFF"/>
                </a:solidFill>
                <a:latin typeface="Muli"/>
                <a:ea typeface="Muli"/>
                <a:cs typeface="Muli"/>
                <a:sym typeface="Muli"/>
              </a:rPr>
              <a:t>• Bivariate analysis</a:t>
            </a:r>
          </a:p>
          <a:p>
            <a:pPr algn="l">
              <a:lnSpc>
                <a:spcPts val="3499"/>
              </a:lnSpc>
            </a:pPr>
            <a:r>
              <a:rPr lang="en-US" sz="2499">
                <a:solidFill>
                  <a:srgbClr val="FFFFFF"/>
                </a:solidFill>
                <a:latin typeface="Muli"/>
                <a:ea typeface="Muli"/>
                <a:cs typeface="Muli"/>
                <a:sym typeface="Muli"/>
              </a:rPr>
              <a:t>• Correlation analysis</a:t>
            </a:r>
          </a:p>
          <a:p>
            <a:pPr algn="l">
              <a:lnSpc>
                <a:spcPts val="3499"/>
              </a:lnSpc>
            </a:pPr>
          </a:p>
          <a:p>
            <a:pPr algn="l">
              <a:lnSpc>
                <a:spcPts val="3499"/>
              </a:lnSpc>
            </a:pPr>
            <a:r>
              <a:rPr lang="en-US" sz="2499">
                <a:solidFill>
                  <a:srgbClr val="FFFFFF"/>
                </a:solidFill>
                <a:latin typeface="Muli"/>
                <a:ea typeface="Muli"/>
                <a:cs typeface="Muli"/>
                <a:sym typeface="Muli"/>
              </a:rPr>
              <a:t>Different visualizations were created such as:</a:t>
            </a:r>
          </a:p>
          <a:p>
            <a:pPr algn="l">
              <a:lnSpc>
                <a:spcPts val="3499"/>
              </a:lnSpc>
            </a:pPr>
            <a:r>
              <a:rPr lang="en-US" sz="2499">
                <a:solidFill>
                  <a:srgbClr val="FFFFFF"/>
                </a:solidFill>
                <a:latin typeface="Muli"/>
                <a:ea typeface="Muli"/>
                <a:cs typeface="Muli"/>
                <a:sym typeface="Muli"/>
              </a:rPr>
              <a:t>• Histograms</a:t>
            </a:r>
          </a:p>
          <a:p>
            <a:pPr algn="l">
              <a:lnSpc>
                <a:spcPts val="3499"/>
              </a:lnSpc>
            </a:pPr>
            <a:r>
              <a:rPr lang="en-US" sz="2499">
                <a:solidFill>
                  <a:srgbClr val="FFFFFF"/>
                </a:solidFill>
                <a:latin typeface="Muli"/>
                <a:ea typeface="Muli"/>
                <a:cs typeface="Muli"/>
                <a:sym typeface="Muli"/>
              </a:rPr>
              <a:t>• Boxplots</a:t>
            </a:r>
          </a:p>
          <a:p>
            <a:pPr algn="l">
              <a:lnSpc>
                <a:spcPts val="3499"/>
              </a:lnSpc>
            </a:pPr>
            <a:r>
              <a:rPr lang="en-US" sz="2499">
                <a:solidFill>
                  <a:srgbClr val="FFFFFF"/>
                </a:solidFill>
                <a:latin typeface="Muli"/>
                <a:ea typeface="Muli"/>
                <a:cs typeface="Muli"/>
                <a:sym typeface="Muli"/>
              </a:rPr>
              <a:t>• Countplots</a:t>
            </a:r>
          </a:p>
          <a:p>
            <a:pPr algn="l">
              <a:lnSpc>
                <a:spcPts val="3499"/>
              </a:lnSpc>
            </a:pPr>
            <a:r>
              <a:rPr lang="en-US" sz="2499">
                <a:solidFill>
                  <a:srgbClr val="FFFFFF"/>
                </a:solidFill>
                <a:latin typeface="Muli"/>
                <a:ea typeface="Muli"/>
                <a:cs typeface="Muli"/>
                <a:sym typeface="Muli"/>
              </a:rPr>
              <a:t>• Scatter plots</a:t>
            </a:r>
          </a:p>
          <a:p>
            <a:pPr algn="l">
              <a:lnSpc>
                <a:spcPts val="3499"/>
              </a:lnSpc>
            </a:pPr>
            <a:r>
              <a:rPr lang="en-US" sz="2499">
                <a:solidFill>
                  <a:srgbClr val="FFFFFF"/>
                </a:solidFill>
                <a:latin typeface="Muli"/>
                <a:ea typeface="Muli"/>
                <a:cs typeface="Muli"/>
                <a:sym typeface="Muli"/>
              </a:rPr>
              <a:t>• Heatmaps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0437975" y="3151941"/>
            <a:ext cx="7084117" cy="5644962"/>
          </a:xfrm>
          <a:custGeom>
            <a:avLst/>
            <a:gdLst/>
            <a:ahLst/>
            <a:cxnLst/>
            <a:rect r="r" b="b" t="t" l="l"/>
            <a:pathLst>
              <a:path h="5644962" w="7084117">
                <a:moveTo>
                  <a:pt x="0" y="0"/>
                </a:moveTo>
                <a:lnTo>
                  <a:pt x="7084117" y="0"/>
                </a:lnTo>
                <a:lnTo>
                  <a:pt x="7084117" y="5644962"/>
                </a:lnTo>
                <a:lnTo>
                  <a:pt x="0" y="5644962"/>
                </a:lnTo>
                <a:lnTo>
                  <a:pt x="0" y="0"/>
                </a:lnTo>
                <a:close/>
              </a:path>
            </a:pathLst>
          </a:custGeom>
          <a:blipFill>
            <a:blip r:embed="rId3"/>
            <a:stretch>
              <a:fillRect l="0" t="0" r="0" b="0"/>
            </a:stretch>
          </a:blipFill>
        </p:spPr>
      </p:sp>
      <p:sp>
        <p:nvSpPr>
          <p:cNvPr name="TextBox 4" id="4"/>
          <p:cNvSpPr txBox="true"/>
          <p:nvPr/>
        </p:nvSpPr>
        <p:spPr>
          <a:xfrm rot="0">
            <a:off x="923926" y="1040272"/>
            <a:ext cx="7655641" cy="1217143"/>
          </a:xfrm>
          <a:prstGeom prst="rect">
            <a:avLst/>
          </a:prstGeom>
        </p:spPr>
        <p:txBody>
          <a:bodyPr anchor="t" rtlCol="false" tIns="0" lIns="0" bIns="0" rIns="0">
            <a:spAutoFit/>
          </a:bodyPr>
          <a:lstStyle/>
          <a:p>
            <a:pPr algn="l">
              <a:lnSpc>
                <a:spcPts val="9413"/>
              </a:lnSpc>
            </a:pPr>
            <a:r>
              <a:rPr lang="en-US" sz="8185">
                <a:solidFill>
                  <a:srgbClr val="FFFFFF"/>
                </a:solidFill>
                <a:latin typeface="League Gothic"/>
                <a:ea typeface="League Gothic"/>
                <a:cs typeface="League Gothic"/>
                <a:sym typeface="League Gothic"/>
              </a:rPr>
              <a:t> IMPORTANT INSIGHTS</a:t>
            </a:r>
          </a:p>
        </p:txBody>
      </p:sp>
      <p:sp>
        <p:nvSpPr>
          <p:cNvPr name="TextBox 5" id="5"/>
          <p:cNvSpPr txBox="true"/>
          <p:nvPr/>
        </p:nvSpPr>
        <p:spPr>
          <a:xfrm rot="0">
            <a:off x="344878" y="3104316"/>
            <a:ext cx="8799122" cy="6075396"/>
          </a:xfrm>
          <a:prstGeom prst="rect">
            <a:avLst/>
          </a:prstGeom>
        </p:spPr>
        <p:txBody>
          <a:bodyPr anchor="t" rtlCol="false" tIns="0" lIns="0" bIns="0" rIns="0">
            <a:spAutoFit/>
          </a:bodyPr>
          <a:lstStyle/>
          <a:p>
            <a:pPr algn="l">
              <a:lnSpc>
                <a:spcPts val="3475"/>
              </a:lnSpc>
            </a:pPr>
            <a:r>
              <a:rPr lang="en-US" sz="2482">
                <a:solidFill>
                  <a:srgbClr val="FFFFFF"/>
                </a:solidFill>
                <a:latin typeface="Muli"/>
                <a:ea typeface="Muli"/>
                <a:cs typeface="Muli"/>
                <a:sym typeface="Muli"/>
              </a:rPr>
              <a:t>Several important observations were identified during the analysis:</a:t>
            </a:r>
          </a:p>
          <a:p>
            <a:pPr algn="l">
              <a:lnSpc>
                <a:spcPts val="3475"/>
              </a:lnSpc>
            </a:pPr>
          </a:p>
          <a:p>
            <a:pPr algn="l">
              <a:lnSpc>
                <a:spcPts val="3475"/>
              </a:lnSpc>
            </a:pPr>
          </a:p>
          <a:p>
            <a:pPr algn="l">
              <a:lnSpc>
                <a:spcPts val="3475"/>
              </a:lnSpc>
            </a:pPr>
            <a:r>
              <a:rPr lang="en-US" sz="2482">
                <a:solidFill>
                  <a:srgbClr val="FFFFFF"/>
                </a:solidFill>
                <a:latin typeface="Muli"/>
                <a:ea typeface="Muli"/>
                <a:cs typeface="Muli"/>
                <a:sym typeface="Muli"/>
              </a:rPr>
              <a:t>• Higher glucose levels are strongly associated with diabetes.</a:t>
            </a:r>
          </a:p>
          <a:p>
            <a:pPr algn="l">
              <a:lnSpc>
                <a:spcPts val="3475"/>
              </a:lnSpc>
            </a:pPr>
          </a:p>
          <a:p>
            <a:pPr algn="l">
              <a:lnSpc>
                <a:spcPts val="3475"/>
              </a:lnSpc>
            </a:pPr>
            <a:r>
              <a:rPr lang="en-US" sz="2482">
                <a:solidFill>
                  <a:srgbClr val="FFFFFF"/>
                </a:solidFill>
                <a:latin typeface="Muli"/>
                <a:ea typeface="Muli"/>
                <a:cs typeface="Muli"/>
                <a:sym typeface="Muli"/>
              </a:rPr>
              <a:t>• Patients with high BMI showed a higher diabetes risk.</a:t>
            </a:r>
          </a:p>
          <a:p>
            <a:pPr algn="l">
              <a:lnSpc>
                <a:spcPts val="3475"/>
              </a:lnSpc>
            </a:pPr>
          </a:p>
          <a:p>
            <a:pPr algn="l">
              <a:lnSpc>
                <a:spcPts val="3475"/>
              </a:lnSpc>
            </a:pPr>
            <a:r>
              <a:rPr lang="en-US" sz="2482">
                <a:solidFill>
                  <a:srgbClr val="FFFFFF"/>
                </a:solidFill>
                <a:latin typeface="Muli"/>
                <a:ea typeface="Muli"/>
                <a:cs typeface="Muli"/>
                <a:sym typeface="Muli"/>
              </a:rPr>
              <a:t>• Hypertension and heart disease were more common among diabetic patients.</a:t>
            </a:r>
          </a:p>
          <a:p>
            <a:pPr algn="l">
              <a:lnSpc>
                <a:spcPts val="3475"/>
              </a:lnSpc>
            </a:pPr>
          </a:p>
          <a:p>
            <a:pPr algn="l">
              <a:lnSpc>
                <a:spcPts val="3475"/>
              </a:lnSpc>
            </a:pPr>
            <a:r>
              <a:rPr lang="en-US" sz="2482">
                <a:solidFill>
                  <a:srgbClr val="FFFFFF"/>
                </a:solidFill>
                <a:latin typeface="Muli"/>
                <a:ea typeface="Muli"/>
                <a:cs typeface="Muli"/>
                <a:sym typeface="Muli"/>
              </a:rPr>
              <a:t>• Older age groups had a greater probability of diabetes occurrence.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958325" y="1066262"/>
            <a:ext cx="5985375" cy="2410880"/>
          </a:xfrm>
          <a:prstGeom prst="rect">
            <a:avLst/>
          </a:prstGeom>
        </p:spPr>
        <p:txBody>
          <a:bodyPr anchor="t" rtlCol="false" tIns="0" lIns="0" bIns="0" rIns="0">
            <a:spAutoFit/>
          </a:bodyPr>
          <a:lstStyle/>
          <a:p>
            <a:pPr algn="l">
              <a:lnSpc>
                <a:spcPts val="9413"/>
              </a:lnSpc>
            </a:pPr>
            <a:r>
              <a:rPr lang="en-US" sz="8185">
                <a:solidFill>
                  <a:srgbClr val="FFFFFF"/>
                </a:solidFill>
                <a:latin typeface="League Gothic"/>
                <a:ea typeface="League Gothic"/>
                <a:cs typeface="League Gothic"/>
                <a:sym typeface="League Gothic"/>
              </a:rPr>
              <a:t>FEATURE ENGINEERING</a:t>
            </a:r>
          </a:p>
        </p:txBody>
      </p:sp>
      <p:sp>
        <p:nvSpPr>
          <p:cNvPr name="TextBox 4" id="4"/>
          <p:cNvSpPr txBox="true"/>
          <p:nvPr/>
        </p:nvSpPr>
        <p:spPr>
          <a:xfrm rot="0">
            <a:off x="980262" y="3981947"/>
            <a:ext cx="13926878" cy="4185417"/>
          </a:xfrm>
          <a:prstGeom prst="rect">
            <a:avLst/>
          </a:prstGeom>
        </p:spPr>
        <p:txBody>
          <a:bodyPr anchor="t" rtlCol="false" tIns="0" lIns="0" bIns="0" rIns="0">
            <a:spAutoFit/>
          </a:bodyPr>
          <a:lstStyle/>
          <a:p>
            <a:pPr algn="l">
              <a:lnSpc>
                <a:spcPts val="4153"/>
              </a:lnSpc>
            </a:pPr>
            <a:r>
              <a:rPr lang="en-US" sz="3194">
                <a:solidFill>
                  <a:srgbClr val="FFFFFF"/>
                </a:solidFill>
                <a:latin typeface="Muli"/>
                <a:ea typeface="Muli"/>
                <a:cs typeface="Muli"/>
                <a:sym typeface="Muli"/>
              </a:rPr>
              <a:t>Feature engineering was applied to improve model performance.</a:t>
            </a:r>
          </a:p>
          <a:p>
            <a:pPr algn="l">
              <a:lnSpc>
                <a:spcPts val="4153"/>
              </a:lnSpc>
            </a:pPr>
          </a:p>
          <a:p>
            <a:pPr algn="l">
              <a:lnSpc>
                <a:spcPts val="4153"/>
              </a:lnSpc>
            </a:pPr>
            <a:r>
              <a:rPr lang="en-US" sz="3194">
                <a:solidFill>
                  <a:srgbClr val="FFFFFF"/>
                </a:solidFill>
                <a:latin typeface="Muli"/>
                <a:ea typeface="Muli"/>
                <a:cs typeface="Muli"/>
                <a:sym typeface="Muli"/>
              </a:rPr>
              <a:t>New features created:</a:t>
            </a:r>
          </a:p>
          <a:p>
            <a:pPr algn="l">
              <a:lnSpc>
                <a:spcPts val="4153"/>
              </a:lnSpc>
            </a:pPr>
            <a:r>
              <a:rPr lang="en-US" sz="3194">
                <a:solidFill>
                  <a:srgbClr val="FFFFFF"/>
                </a:solidFill>
                <a:latin typeface="Muli"/>
                <a:ea typeface="Muli"/>
                <a:cs typeface="Muli"/>
                <a:sym typeface="Muli"/>
              </a:rPr>
              <a:t>• Age Groups</a:t>
            </a:r>
          </a:p>
          <a:p>
            <a:pPr algn="l">
              <a:lnSpc>
                <a:spcPts val="4153"/>
              </a:lnSpc>
            </a:pPr>
            <a:r>
              <a:rPr lang="en-US" sz="3194">
                <a:solidFill>
                  <a:srgbClr val="FFFFFF"/>
                </a:solidFill>
                <a:latin typeface="Muli"/>
                <a:ea typeface="Muli"/>
                <a:cs typeface="Muli"/>
                <a:sym typeface="Muli"/>
              </a:rPr>
              <a:t>• BMI Categories</a:t>
            </a:r>
          </a:p>
          <a:p>
            <a:pPr algn="l">
              <a:lnSpc>
                <a:spcPts val="4153"/>
              </a:lnSpc>
            </a:pPr>
          </a:p>
          <a:p>
            <a:pPr algn="l">
              <a:lnSpc>
                <a:spcPts val="4153"/>
              </a:lnSpc>
            </a:pPr>
            <a:r>
              <a:rPr lang="en-US" sz="3194">
                <a:solidFill>
                  <a:srgbClr val="FFFFFF"/>
                </a:solidFill>
                <a:latin typeface="Muli"/>
                <a:ea typeface="Muli"/>
                <a:cs typeface="Muli"/>
                <a:sym typeface="Muli"/>
              </a:rPr>
              <a:t>These engineered features helped the models better understand patient risk patterns.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sp>
        <p:nvSpPr>
          <p:cNvPr name="Freeform 3" id="3"/>
          <p:cNvSpPr/>
          <p:nvPr/>
        </p:nvSpPr>
        <p:spPr>
          <a:xfrm flipH="false" flipV="false" rot="0">
            <a:off x="9902231" y="2171924"/>
            <a:ext cx="8099697" cy="5943153"/>
          </a:xfrm>
          <a:custGeom>
            <a:avLst/>
            <a:gdLst/>
            <a:ahLst/>
            <a:cxnLst/>
            <a:rect r="r" b="b" t="t" l="l"/>
            <a:pathLst>
              <a:path h="5943153" w="8099697">
                <a:moveTo>
                  <a:pt x="0" y="0"/>
                </a:moveTo>
                <a:lnTo>
                  <a:pt x="8099698" y="0"/>
                </a:lnTo>
                <a:lnTo>
                  <a:pt x="8099698" y="5943152"/>
                </a:lnTo>
                <a:lnTo>
                  <a:pt x="0" y="5943152"/>
                </a:lnTo>
                <a:lnTo>
                  <a:pt x="0" y="0"/>
                </a:lnTo>
                <a:close/>
              </a:path>
            </a:pathLst>
          </a:custGeom>
          <a:blipFill>
            <a:blip r:embed="rId3"/>
            <a:stretch>
              <a:fillRect l="0" t="0" r="0" b="0"/>
            </a:stretch>
          </a:blipFill>
        </p:spPr>
      </p:sp>
      <p:sp>
        <p:nvSpPr>
          <p:cNvPr name="TextBox 4" id="4"/>
          <p:cNvSpPr txBox="true"/>
          <p:nvPr/>
        </p:nvSpPr>
        <p:spPr>
          <a:xfrm rot="0">
            <a:off x="1001281" y="1509976"/>
            <a:ext cx="5985375" cy="4798356"/>
          </a:xfrm>
          <a:prstGeom prst="rect">
            <a:avLst/>
          </a:prstGeom>
        </p:spPr>
        <p:txBody>
          <a:bodyPr anchor="t" rtlCol="false" tIns="0" lIns="0" bIns="0" rIns="0">
            <a:spAutoFit/>
          </a:bodyPr>
          <a:lstStyle/>
          <a:p>
            <a:pPr algn="l">
              <a:lnSpc>
                <a:spcPts val="9413"/>
              </a:lnSpc>
            </a:pPr>
            <a:r>
              <a:rPr lang="en-US" sz="8185">
                <a:solidFill>
                  <a:srgbClr val="FFFFFF"/>
                </a:solidFill>
                <a:latin typeface="League Gothic"/>
                <a:ea typeface="League Gothic"/>
                <a:cs typeface="League Gothic"/>
                <a:sym typeface="League Gothic"/>
              </a:rPr>
              <a:t>FEATURE SELECTION</a:t>
            </a:r>
          </a:p>
          <a:p>
            <a:pPr algn="l">
              <a:lnSpc>
                <a:spcPts val="9413"/>
              </a:lnSpc>
            </a:pPr>
          </a:p>
          <a:p>
            <a:pPr algn="l">
              <a:lnSpc>
                <a:spcPts val="9413"/>
              </a:lnSpc>
            </a:pPr>
          </a:p>
          <a:p>
            <a:pPr algn="l">
              <a:lnSpc>
                <a:spcPts val="9413"/>
              </a:lnSpc>
            </a:pPr>
          </a:p>
        </p:txBody>
      </p:sp>
      <p:sp>
        <p:nvSpPr>
          <p:cNvPr name="TextBox 5" id="5"/>
          <p:cNvSpPr txBox="true"/>
          <p:nvPr/>
        </p:nvSpPr>
        <p:spPr>
          <a:xfrm rot="0">
            <a:off x="580626" y="4248122"/>
            <a:ext cx="9131107" cy="4794250"/>
          </a:xfrm>
          <a:prstGeom prst="rect">
            <a:avLst/>
          </a:prstGeom>
        </p:spPr>
        <p:txBody>
          <a:bodyPr anchor="t" rtlCol="false" tIns="0" lIns="0" bIns="0" rIns="0">
            <a:spAutoFit/>
          </a:bodyPr>
          <a:lstStyle/>
          <a:p>
            <a:pPr algn="l">
              <a:lnSpc>
                <a:spcPts val="3499"/>
              </a:lnSpc>
            </a:pPr>
            <a:r>
              <a:rPr lang="en-US" sz="2499">
                <a:solidFill>
                  <a:srgbClr val="FFFFFF"/>
                </a:solidFill>
                <a:latin typeface="Muli"/>
                <a:ea typeface="Muli"/>
                <a:cs typeface="Muli"/>
                <a:sym typeface="Muli"/>
              </a:rPr>
              <a:t>Feature importance analysis was used to identify the most influential variables.</a:t>
            </a:r>
          </a:p>
          <a:p>
            <a:pPr algn="l">
              <a:lnSpc>
                <a:spcPts val="3499"/>
              </a:lnSpc>
            </a:pPr>
          </a:p>
          <a:p>
            <a:pPr algn="l">
              <a:lnSpc>
                <a:spcPts val="3499"/>
              </a:lnSpc>
            </a:pPr>
            <a:r>
              <a:rPr lang="en-US" sz="2499">
                <a:solidFill>
                  <a:srgbClr val="FFFFFF"/>
                </a:solidFill>
                <a:latin typeface="Muli"/>
                <a:ea typeface="Muli"/>
                <a:cs typeface="Muli"/>
                <a:sym typeface="Muli"/>
              </a:rPr>
              <a:t>The most significant features included:</a:t>
            </a:r>
          </a:p>
          <a:p>
            <a:pPr algn="l">
              <a:lnSpc>
                <a:spcPts val="3499"/>
              </a:lnSpc>
            </a:pPr>
            <a:r>
              <a:rPr lang="en-US" sz="2499">
                <a:solidFill>
                  <a:srgbClr val="FFFFFF"/>
                </a:solidFill>
                <a:latin typeface="Muli"/>
                <a:ea typeface="Muli"/>
                <a:cs typeface="Muli"/>
                <a:sym typeface="Muli"/>
              </a:rPr>
              <a:t>• Blood Glucose Level</a:t>
            </a:r>
          </a:p>
          <a:p>
            <a:pPr algn="l">
              <a:lnSpc>
                <a:spcPts val="3499"/>
              </a:lnSpc>
            </a:pPr>
            <a:r>
              <a:rPr lang="en-US" sz="2499">
                <a:solidFill>
                  <a:srgbClr val="FFFFFF"/>
                </a:solidFill>
                <a:latin typeface="Muli"/>
                <a:ea typeface="Muli"/>
                <a:cs typeface="Muli"/>
                <a:sym typeface="Muli"/>
              </a:rPr>
              <a:t>• HbA1c Level</a:t>
            </a:r>
          </a:p>
          <a:p>
            <a:pPr algn="l">
              <a:lnSpc>
                <a:spcPts val="3499"/>
              </a:lnSpc>
            </a:pPr>
            <a:r>
              <a:rPr lang="en-US" sz="2499">
                <a:solidFill>
                  <a:srgbClr val="FFFFFF"/>
                </a:solidFill>
                <a:latin typeface="Muli"/>
                <a:ea typeface="Muli"/>
                <a:cs typeface="Muli"/>
                <a:sym typeface="Muli"/>
              </a:rPr>
              <a:t>• BMI</a:t>
            </a:r>
          </a:p>
          <a:p>
            <a:pPr algn="l">
              <a:lnSpc>
                <a:spcPts val="3499"/>
              </a:lnSpc>
            </a:pPr>
            <a:r>
              <a:rPr lang="en-US" sz="2499">
                <a:solidFill>
                  <a:srgbClr val="FFFFFF"/>
                </a:solidFill>
                <a:latin typeface="Muli"/>
                <a:ea typeface="Muli"/>
                <a:cs typeface="Muli"/>
                <a:sym typeface="Muli"/>
              </a:rPr>
              <a:t>• Age</a:t>
            </a:r>
          </a:p>
          <a:p>
            <a:pPr algn="l">
              <a:lnSpc>
                <a:spcPts val="3499"/>
              </a:lnSpc>
            </a:pPr>
          </a:p>
          <a:p>
            <a:pPr algn="l">
              <a:lnSpc>
                <a:spcPts val="3499"/>
              </a:lnSpc>
            </a:pPr>
            <a:r>
              <a:rPr lang="en-US" sz="2499">
                <a:solidFill>
                  <a:srgbClr val="FFFFFF"/>
                </a:solidFill>
                <a:latin typeface="Muli"/>
                <a:ea typeface="Muli"/>
                <a:cs typeface="Muli"/>
                <a:sym typeface="Muli"/>
              </a:rPr>
              <a:t>Feature selection helped reduce unnecessary complexity and improve prediction efficiency.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958325" y="1066262"/>
            <a:ext cx="7655641" cy="2410880"/>
          </a:xfrm>
          <a:prstGeom prst="rect">
            <a:avLst/>
          </a:prstGeom>
        </p:spPr>
        <p:txBody>
          <a:bodyPr anchor="t" rtlCol="false" tIns="0" lIns="0" bIns="0" rIns="0">
            <a:spAutoFit/>
          </a:bodyPr>
          <a:lstStyle/>
          <a:p>
            <a:pPr algn="l">
              <a:lnSpc>
                <a:spcPts val="9413"/>
              </a:lnSpc>
            </a:pPr>
            <a:r>
              <a:rPr lang="en-US" sz="8185">
                <a:solidFill>
                  <a:srgbClr val="FFFFFF"/>
                </a:solidFill>
                <a:latin typeface="League Gothic"/>
                <a:ea typeface="League Gothic"/>
                <a:cs typeface="League Gothic"/>
                <a:sym typeface="League Gothic"/>
              </a:rPr>
              <a:t>MACHINE LEARNING MODELS</a:t>
            </a:r>
          </a:p>
        </p:txBody>
      </p:sp>
      <p:sp>
        <p:nvSpPr>
          <p:cNvPr name="TextBox 4" id="4"/>
          <p:cNvSpPr txBox="true"/>
          <p:nvPr/>
        </p:nvSpPr>
        <p:spPr>
          <a:xfrm rot="0">
            <a:off x="1028700" y="3751344"/>
            <a:ext cx="10162307" cy="4924544"/>
          </a:xfrm>
          <a:prstGeom prst="rect">
            <a:avLst/>
          </a:prstGeom>
        </p:spPr>
        <p:txBody>
          <a:bodyPr anchor="t" rtlCol="false" tIns="0" lIns="0" bIns="0" rIns="0">
            <a:spAutoFit/>
          </a:bodyPr>
          <a:lstStyle/>
          <a:p>
            <a:pPr algn="l">
              <a:lnSpc>
                <a:spcPts val="4326"/>
              </a:lnSpc>
            </a:pPr>
            <a:r>
              <a:rPr lang="en-US" sz="3328">
                <a:solidFill>
                  <a:srgbClr val="FFFFFF"/>
                </a:solidFill>
                <a:latin typeface="Muli"/>
                <a:ea typeface="Muli"/>
                <a:cs typeface="Muli"/>
                <a:sym typeface="Muli"/>
              </a:rPr>
              <a:t>Three machine learning algorithms were implemented and compared:</a:t>
            </a:r>
          </a:p>
          <a:p>
            <a:pPr algn="l">
              <a:lnSpc>
                <a:spcPts val="4326"/>
              </a:lnSpc>
            </a:pPr>
          </a:p>
          <a:p>
            <a:pPr algn="l">
              <a:lnSpc>
                <a:spcPts val="4326"/>
              </a:lnSpc>
            </a:pPr>
            <a:r>
              <a:rPr lang="en-US" sz="3328">
                <a:solidFill>
                  <a:srgbClr val="FFFFFF"/>
                </a:solidFill>
                <a:latin typeface="Muli"/>
                <a:ea typeface="Muli"/>
                <a:cs typeface="Muli"/>
                <a:sym typeface="Muli"/>
              </a:rPr>
              <a:t>1. Logistic Regression</a:t>
            </a:r>
          </a:p>
          <a:p>
            <a:pPr algn="l">
              <a:lnSpc>
                <a:spcPts val="4326"/>
              </a:lnSpc>
            </a:pPr>
            <a:r>
              <a:rPr lang="en-US" sz="3328">
                <a:solidFill>
                  <a:srgbClr val="FFFFFF"/>
                </a:solidFill>
                <a:latin typeface="Muli"/>
                <a:ea typeface="Muli"/>
                <a:cs typeface="Muli"/>
                <a:sym typeface="Muli"/>
              </a:rPr>
              <a:t>2. Random Forest Classifier</a:t>
            </a:r>
          </a:p>
          <a:p>
            <a:pPr algn="l">
              <a:lnSpc>
                <a:spcPts val="4326"/>
              </a:lnSpc>
            </a:pPr>
            <a:r>
              <a:rPr lang="en-US" sz="3328">
                <a:solidFill>
                  <a:srgbClr val="FFFFFF"/>
                </a:solidFill>
                <a:latin typeface="Muli"/>
                <a:ea typeface="Muli"/>
                <a:cs typeface="Muli"/>
                <a:sym typeface="Muli"/>
              </a:rPr>
              <a:t>3. Gradient Boosting Classifier</a:t>
            </a:r>
          </a:p>
          <a:p>
            <a:pPr algn="l">
              <a:lnSpc>
                <a:spcPts val="4326"/>
              </a:lnSpc>
            </a:pPr>
          </a:p>
          <a:p>
            <a:pPr algn="l">
              <a:lnSpc>
                <a:spcPts val="4326"/>
              </a:lnSpc>
            </a:pPr>
            <a:r>
              <a:rPr lang="en-US" sz="3328">
                <a:solidFill>
                  <a:srgbClr val="FFFFFF"/>
                </a:solidFill>
                <a:latin typeface="Muli"/>
                <a:ea typeface="Muli"/>
                <a:cs typeface="Muli"/>
                <a:sym typeface="Muli"/>
              </a:rPr>
              <a:t>The objective was to compare performance and identify the best-performing model.</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958325" y="1663131"/>
            <a:ext cx="5985375" cy="1217143"/>
          </a:xfrm>
          <a:prstGeom prst="rect">
            <a:avLst/>
          </a:prstGeom>
        </p:spPr>
        <p:txBody>
          <a:bodyPr anchor="t" rtlCol="false" tIns="0" lIns="0" bIns="0" rIns="0">
            <a:spAutoFit/>
          </a:bodyPr>
          <a:lstStyle/>
          <a:p>
            <a:pPr algn="l">
              <a:lnSpc>
                <a:spcPts val="9413"/>
              </a:lnSpc>
            </a:pPr>
            <a:r>
              <a:rPr lang="en-US" sz="8185">
                <a:solidFill>
                  <a:srgbClr val="FFFFFF"/>
                </a:solidFill>
                <a:latin typeface="League Gothic"/>
                <a:ea typeface="League Gothic"/>
                <a:cs typeface="League Gothic"/>
                <a:sym typeface="League Gothic"/>
              </a:rPr>
              <a:t>MODEL EVALUATION</a:t>
            </a:r>
          </a:p>
        </p:txBody>
      </p:sp>
      <p:sp>
        <p:nvSpPr>
          <p:cNvPr name="TextBox 4" id="4"/>
          <p:cNvSpPr txBox="true"/>
          <p:nvPr/>
        </p:nvSpPr>
        <p:spPr>
          <a:xfrm rot="0">
            <a:off x="980262" y="3981947"/>
            <a:ext cx="13926878" cy="4710094"/>
          </a:xfrm>
          <a:prstGeom prst="rect">
            <a:avLst/>
          </a:prstGeom>
        </p:spPr>
        <p:txBody>
          <a:bodyPr anchor="t" rtlCol="false" tIns="0" lIns="0" bIns="0" rIns="0">
            <a:spAutoFit/>
          </a:bodyPr>
          <a:lstStyle/>
          <a:p>
            <a:pPr algn="l">
              <a:lnSpc>
                <a:spcPts val="4153"/>
              </a:lnSpc>
            </a:pPr>
            <a:r>
              <a:rPr lang="en-US" sz="3194">
                <a:solidFill>
                  <a:srgbClr val="FFFFFF"/>
                </a:solidFill>
                <a:latin typeface="Muli"/>
                <a:ea typeface="Muli"/>
                <a:cs typeface="Muli"/>
                <a:sym typeface="Muli"/>
              </a:rPr>
              <a:t>The models were evaluated using multiple evaluation metrics:</a:t>
            </a:r>
          </a:p>
          <a:p>
            <a:pPr algn="l">
              <a:lnSpc>
                <a:spcPts val="4153"/>
              </a:lnSpc>
            </a:pPr>
          </a:p>
          <a:p>
            <a:pPr algn="l">
              <a:lnSpc>
                <a:spcPts val="4153"/>
              </a:lnSpc>
            </a:pPr>
            <a:r>
              <a:rPr lang="en-US" sz="3194">
                <a:solidFill>
                  <a:srgbClr val="FFFFFF"/>
                </a:solidFill>
                <a:latin typeface="Muli"/>
                <a:ea typeface="Muli"/>
                <a:cs typeface="Muli"/>
                <a:sym typeface="Muli"/>
              </a:rPr>
              <a:t>• Precision</a:t>
            </a:r>
          </a:p>
          <a:p>
            <a:pPr algn="l">
              <a:lnSpc>
                <a:spcPts val="4153"/>
              </a:lnSpc>
            </a:pPr>
            <a:r>
              <a:rPr lang="en-US" sz="3194">
                <a:solidFill>
                  <a:srgbClr val="FFFFFF"/>
                </a:solidFill>
                <a:latin typeface="Muli"/>
                <a:ea typeface="Muli"/>
                <a:cs typeface="Muli"/>
                <a:sym typeface="Muli"/>
              </a:rPr>
              <a:t>• Recall</a:t>
            </a:r>
          </a:p>
          <a:p>
            <a:pPr algn="l">
              <a:lnSpc>
                <a:spcPts val="4153"/>
              </a:lnSpc>
            </a:pPr>
            <a:r>
              <a:rPr lang="en-US" sz="3194">
                <a:solidFill>
                  <a:srgbClr val="FFFFFF"/>
                </a:solidFill>
                <a:latin typeface="Muli"/>
                <a:ea typeface="Muli"/>
                <a:cs typeface="Muli"/>
                <a:sym typeface="Muli"/>
              </a:rPr>
              <a:t>• F1-score</a:t>
            </a:r>
          </a:p>
          <a:p>
            <a:pPr algn="l">
              <a:lnSpc>
                <a:spcPts val="4153"/>
              </a:lnSpc>
            </a:pPr>
            <a:r>
              <a:rPr lang="en-US" sz="3194">
                <a:solidFill>
                  <a:srgbClr val="FFFFFF"/>
                </a:solidFill>
                <a:latin typeface="Muli"/>
                <a:ea typeface="Muli"/>
                <a:cs typeface="Muli"/>
                <a:sym typeface="Muli"/>
              </a:rPr>
              <a:t>• Confusion Matrix</a:t>
            </a:r>
          </a:p>
          <a:p>
            <a:pPr algn="l">
              <a:lnSpc>
                <a:spcPts val="4153"/>
              </a:lnSpc>
            </a:pPr>
          </a:p>
          <a:p>
            <a:pPr algn="l">
              <a:lnSpc>
                <a:spcPts val="4153"/>
              </a:lnSpc>
            </a:pPr>
            <a:r>
              <a:rPr lang="en-US" sz="3194">
                <a:solidFill>
                  <a:srgbClr val="FFFFFF"/>
                </a:solidFill>
                <a:latin typeface="Muli"/>
                <a:ea typeface="Muli"/>
                <a:cs typeface="Muli"/>
                <a:sym typeface="Muli"/>
              </a:rPr>
              <a:t>These metrics provide a comprehensive understanding of model performance, especially for medical classification problems.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9826732" y="3661700"/>
            <a:ext cx="6908906" cy="5596600"/>
          </a:xfrm>
          <a:custGeom>
            <a:avLst/>
            <a:gdLst/>
            <a:ahLst/>
            <a:cxnLst/>
            <a:rect r="r" b="b" t="t" l="l"/>
            <a:pathLst>
              <a:path h="5596600" w="6908906">
                <a:moveTo>
                  <a:pt x="0" y="0"/>
                </a:moveTo>
                <a:lnTo>
                  <a:pt x="6908906" y="0"/>
                </a:lnTo>
                <a:lnTo>
                  <a:pt x="6908906" y="5596600"/>
                </a:lnTo>
                <a:lnTo>
                  <a:pt x="0" y="5596600"/>
                </a:lnTo>
                <a:lnTo>
                  <a:pt x="0" y="0"/>
                </a:lnTo>
                <a:close/>
              </a:path>
            </a:pathLst>
          </a:custGeom>
          <a:blipFill>
            <a:blip r:embed="rId3"/>
            <a:stretch>
              <a:fillRect l="0" t="0" r="0" b="0"/>
            </a:stretch>
          </a:blipFill>
        </p:spPr>
      </p:sp>
      <p:sp>
        <p:nvSpPr>
          <p:cNvPr name="TextBox 4" id="4"/>
          <p:cNvSpPr txBox="true"/>
          <p:nvPr/>
        </p:nvSpPr>
        <p:spPr>
          <a:xfrm rot="0">
            <a:off x="1958325" y="1066262"/>
            <a:ext cx="5985375" cy="2410880"/>
          </a:xfrm>
          <a:prstGeom prst="rect">
            <a:avLst/>
          </a:prstGeom>
        </p:spPr>
        <p:txBody>
          <a:bodyPr anchor="t" rtlCol="false" tIns="0" lIns="0" bIns="0" rIns="0">
            <a:spAutoFit/>
          </a:bodyPr>
          <a:lstStyle/>
          <a:p>
            <a:pPr algn="l">
              <a:lnSpc>
                <a:spcPts val="9413"/>
              </a:lnSpc>
            </a:pPr>
            <a:r>
              <a:rPr lang="en-US" sz="8185">
                <a:solidFill>
                  <a:srgbClr val="FFFFFF"/>
                </a:solidFill>
                <a:latin typeface="League Gothic"/>
                <a:ea typeface="League Gothic"/>
                <a:cs typeface="League Gothic"/>
                <a:sym typeface="League Gothic"/>
              </a:rPr>
              <a:t>BEST MODEL PERFORMANCE</a:t>
            </a:r>
          </a:p>
        </p:txBody>
      </p:sp>
      <p:sp>
        <p:nvSpPr>
          <p:cNvPr name="TextBox 5" id="5"/>
          <p:cNvSpPr txBox="true"/>
          <p:nvPr/>
        </p:nvSpPr>
        <p:spPr>
          <a:xfrm rot="0">
            <a:off x="337321" y="4289440"/>
            <a:ext cx="7275754" cy="4909017"/>
          </a:xfrm>
          <a:prstGeom prst="rect">
            <a:avLst/>
          </a:prstGeom>
        </p:spPr>
        <p:txBody>
          <a:bodyPr anchor="t" rtlCol="false" tIns="0" lIns="0" bIns="0" rIns="0">
            <a:spAutoFit/>
          </a:bodyPr>
          <a:lstStyle/>
          <a:p>
            <a:pPr algn="l">
              <a:lnSpc>
                <a:spcPts val="3536"/>
              </a:lnSpc>
            </a:pPr>
            <a:r>
              <a:rPr lang="en-US" sz="2720">
                <a:solidFill>
                  <a:srgbClr val="FFFFFF"/>
                </a:solidFill>
                <a:latin typeface="Muli"/>
                <a:ea typeface="Muli"/>
                <a:cs typeface="Muli"/>
                <a:sym typeface="Muli"/>
              </a:rPr>
              <a:t>The Random Forest model achieved the best overall performance compared to the other algorithms.</a:t>
            </a:r>
          </a:p>
          <a:p>
            <a:pPr algn="l">
              <a:lnSpc>
                <a:spcPts val="3536"/>
              </a:lnSpc>
            </a:pPr>
          </a:p>
          <a:p>
            <a:pPr algn="l">
              <a:lnSpc>
                <a:spcPts val="3536"/>
              </a:lnSpc>
            </a:pPr>
            <a:r>
              <a:rPr lang="en-US" sz="2720">
                <a:solidFill>
                  <a:srgbClr val="FFFFFF"/>
                </a:solidFill>
                <a:latin typeface="Muli"/>
                <a:ea typeface="Muli"/>
                <a:cs typeface="Muli"/>
                <a:sym typeface="Muli"/>
              </a:rPr>
              <a:t>The model demonstrated:</a:t>
            </a:r>
          </a:p>
          <a:p>
            <a:pPr algn="l">
              <a:lnSpc>
                <a:spcPts val="3536"/>
              </a:lnSpc>
            </a:pPr>
            <a:r>
              <a:rPr lang="en-US" sz="2720">
                <a:solidFill>
                  <a:srgbClr val="FFFFFF"/>
                </a:solidFill>
                <a:latin typeface="Muli"/>
                <a:ea typeface="Muli"/>
                <a:cs typeface="Muli"/>
                <a:sym typeface="Muli"/>
              </a:rPr>
              <a:t>• High prediction accuracy</a:t>
            </a:r>
          </a:p>
          <a:p>
            <a:pPr algn="l">
              <a:lnSpc>
                <a:spcPts val="3536"/>
              </a:lnSpc>
            </a:pPr>
            <a:r>
              <a:rPr lang="en-US" sz="2720">
                <a:solidFill>
                  <a:srgbClr val="FFFFFF"/>
                </a:solidFill>
                <a:latin typeface="Muli"/>
                <a:ea typeface="Muli"/>
                <a:cs typeface="Muli"/>
                <a:sym typeface="Muli"/>
              </a:rPr>
              <a:t>• Strong recall performance</a:t>
            </a:r>
          </a:p>
          <a:p>
            <a:pPr algn="l">
              <a:lnSpc>
                <a:spcPts val="3536"/>
              </a:lnSpc>
            </a:pPr>
            <a:r>
              <a:rPr lang="en-US" sz="2720">
                <a:solidFill>
                  <a:srgbClr val="FFFFFF"/>
                </a:solidFill>
                <a:latin typeface="Muli"/>
                <a:ea typeface="Muli"/>
                <a:cs typeface="Muli"/>
                <a:sym typeface="Muli"/>
              </a:rPr>
              <a:t>• Good balance between precision and recall</a:t>
            </a:r>
          </a:p>
          <a:p>
            <a:pPr algn="l">
              <a:lnSpc>
                <a:spcPts val="3536"/>
              </a:lnSpc>
            </a:pPr>
          </a:p>
          <a:p>
            <a:pPr algn="l">
              <a:lnSpc>
                <a:spcPts val="3536"/>
              </a:lnSpc>
            </a:pPr>
            <a:r>
              <a:rPr lang="en-US" sz="2720">
                <a:solidFill>
                  <a:srgbClr val="FFFFFF"/>
                </a:solidFill>
                <a:latin typeface="Muli"/>
                <a:ea typeface="Muli"/>
                <a:cs typeface="Muli"/>
                <a:sym typeface="Muli"/>
              </a:rPr>
              <a:t>This makes the model suitable for diabetes prediction tasks.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27745" y="3894867"/>
            <a:ext cx="9043427" cy="9043427"/>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5046" t="0" r="-25046" b="0"/>
              </a:stretch>
            </a:blipFill>
          </p:spPr>
        </p:sp>
      </p:grpSp>
      <p:sp>
        <p:nvSpPr>
          <p:cNvPr name="TextBox 5" id="5"/>
          <p:cNvSpPr txBox="true"/>
          <p:nvPr/>
        </p:nvSpPr>
        <p:spPr>
          <a:xfrm rot="0">
            <a:off x="1958325" y="1663131"/>
            <a:ext cx="7655641" cy="1217143"/>
          </a:xfrm>
          <a:prstGeom prst="rect">
            <a:avLst/>
          </a:prstGeom>
        </p:spPr>
        <p:txBody>
          <a:bodyPr anchor="t" rtlCol="false" tIns="0" lIns="0" bIns="0" rIns="0">
            <a:spAutoFit/>
          </a:bodyPr>
          <a:lstStyle/>
          <a:p>
            <a:pPr algn="l">
              <a:lnSpc>
                <a:spcPts val="9413"/>
              </a:lnSpc>
            </a:pPr>
            <a:r>
              <a:rPr lang="en-US" sz="8185">
                <a:solidFill>
                  <a:srgbClr val="FFFFFF"/>
                </a:solidFill>
                <a:latin typeface="League Gothic"/>
                <a:ea typeface="League Gothic"/>
                <a:cs typeface="League Gothic"/>
                <a:sym typeface="League Gothic"/>
              </a:rPr>
              <a:t>CONCLUSIONS</a:t>
            </a:r>
          </a:p>
        </p:txBody>
      </p:sp>
      <p:sp>
        <p:nvSpPr>
          <p:cNvPr name="TextBox 6" id="6"/>
          <p:cNvSpPr txBox="true"/>
          <p:nvPr/>
        </p:nvSpPr>
        <p:spPr>
          <a:xfrm rot="0">
            <a:off x="8747042" y="1970390"/>
            <a:ext cx="8176811" cy="7287910"/>
          </a:xfrm>
          <a:prstGeom prst="rect">
            <a:avLst/>
          </a:prstGeom>
        </p:spPr>
        <p:txBody>
          <a:bodyPr anchor="t" rtlCol="false" tIns="0" lIns="0" bIns="0" rIns="0">
            <a:spAutoFit/>
          </a:bodyPr>
          <a:lstStyle/>
          <a:p>
            <a:pPr algn="l">
              <a:lnSpc>
                <a:spcPts val="3888"/>
              </a:lnSpc>
            </a:pPr>
            <a:r>
              <a:rPr lang="en-US" sz="2777">
                <a:solidFill>
                  <a:srgbClr val="FFFFFF"/>
                </a:solidFill>
                <a:latin typeface="Muli"/>
                <a:ea typeface="Muli"/>
                <a:cs typeface="Muli"/>
                <a:sym typeface="Muli"/>
              </a:rPr>
              <a:t>This project demonstrated the effectiveness of machine learning in predicting diabetes using clinical data.</a:t>
            </a:r>
          </a:p>
          <a:p>
            <a:pPr algn="l">
              <a:lnSpc>
                <a:spcPts val="3888"/>
              </a:lnSpc>
            </a:pPr>
          </a:p>
          <a:p>
            <a:pPr algn="l">
              <a:lnSpc>
                <a:spcPts val="3888"/>
              </a:lnSpc>
            </a:pPr>
            <a:r>
              <a:rPr lang="en-US" sz="2777">
                <a:solidFill>
                  <a:srgbClr val="FFFFFF"/>
                </a:solidFill>
                <a:latin typeface="Muli"/>
                <a:ea typeface="Muli"/>
                <a:cs typeface="Muli"/>
                <a:sym typeface="Muli"/>
              </a:rPr>
              <a:t>The developed system achieved strong predictive performance and can support healthcare systems in early disease detection and decision-making.</a:t>
            </a:r>
          </a:p>
          <a:p>
            <a:pPr algn="l">
              <a:lnSpc>
                <a:spcPts val="3888"/>
              </a:lnSpc>
            </a:pPr>
          </a:p>
          <a:p>
            <a:pPr algn="l">
              <a:lnSpc>
                <a:spcPts val="3888"/>
              </a:lnSpc>
            </a:pPr>
            <a:r>
              <a:rPr lang="en-US" sz="2777">
                <a:solidFill>
                  <a:srgbClr val="FFFFFF"/>
                </a:solidFill>
                <a:latin typeface="Muli"/>
                <a:ea typeface="Muli"/>
                <a:cs typeface="Muli"/>
                <a:sym typeface="Muli"/>
              </a:rPr>
              <a:t>Future improvements may include:</a:t>
            </a:r>
          </a:p>
          <a:p>
            <a:pPr algn="l">
              <a:lnSpc>
                <a:spcPts val="3888"/>
              </a:lnSpc>
            </a:pPr>
          </a:p>
          <a:p>
            <a:pPr algn="l">
              <a:lnSpc>
                <a:spcPts val="3888"/>
              </a:lnSpc>
            </a:pPr>
            <a:r>
              <a:rPr lang="en-US" sz="2777">
                <a:solidFill>
                  <a:srgbClr val="FFFFFF"/>
                </a:solidFill>
                <a:latin typeface="Muli"/>
                <a:ea typeface="Muli"/>
                <a:cs typeface="Muli"/>
                <a:sym typeface="Muli"/>
              </a:rPr>
              <a:t>• Using deep learning techniques</a:t>
            </a:r>
          </a:p>
          <a:p>
            <a:pPr algn="l">
              <a:lnSpc>
                <a:spcPts val="3888"/>
              </a:lnSpc>
            </a:pPr>
          </a:p>
          <a:p>
            <a:pPr algn="l">
              <a:lnSpc>
                <a:spcPts val="3888"/>
              </a:lnSpc>
            </a:pPr>
            <a:r>
              <a:rPr lang="en-US" sz="2777">
                <a:solidFill>
                  <a:srgbClr val="FFFFFF"/>
                </a:solidFill>
                <a:latin typeface="Muli"/>
                <a:ea typeface="Muli"/>
                <a:cs typeface="Muli"/>
                <a:sym typeface="Muli"/>
              </a:rPr>
              <a:t>• Adding more clinical variables</a:t>
            </a:r>
          </a:p>
          <a:p>
            <a:pPr algn="l">
              <a:lnSpc>
                <a:spcPts val="3888"/>
              </a:lnSpc>
            </a:pPr>
          </a:p>
          <a:p>
            <a:pPr algn="l">
              <a:lnSpc>
                <a:spcPts val="3888"/>
              </a:lnSpc>
            </a:pPr>
            <a:r>
              <a:rPr lang="en-US" sz="2777">
                <a:solidFill>
                  <a:srgbClr val="FFFFFF"/>
                </a:solidFill>
                <a:latin typeface="Muli"/>
                <a:ea typeface="Muli"/>
                <a:cs typeface="Muli"/>
                <a:sym typeface="Muli"/>
              </a:rPr>
              <a:t>• Deploying the model on cloud platforms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sp>
        <p:nvSpPr>
          <p:cNvPr name="TextBox 3" id="3"/>
          <p:cNvSpPr txBox="true"/>
          <p:nvPr/>
        </p:nvSpPr>
        <p:spPr>
          <a:xfrm rot="0">
            <a:off x="2314586" y="3807529"/>
            <a:ext cx="13658828" cy="2757668"/>
          </a:xfrm>
          <a:prstGeom prst="rect">
            <a:avLst/>
          </a:prstGeom>
        </p:spPr>
        <p:txBody>
          <a:bodyPr anchor="t" rtlCol="false" tIns="0" lIns="0" bIns="0" rIns="0">
            <a:spAutoFit/>
          </a:bodyPr>
          <a:lstStyle/>
          <a:p>
            <a:pPr algn="ctr">
              <a:lnSpc>
                <a:spcPts val="21482"/>
              </a:lnSpc>
            </a:pPr>
            <a:r>
              <a:rPr lang="en-US" sz="18680">
                <a:solidFill>
                  <a:srgbClr val="FFFFFF"/>
                </a:solidFill>
                <a:latin typeface="League Gothic"/>
                <a:ea typeface="League Gothic"/>
                <a:cs typeface="League Gothic"/>
                <a:sym typeface="League Gothic"/>
              </a:rPr>
              <a:t>THANK YOU</a:t>
            </a:r>
          </a:p>
        </p:txBody>
      </p:sp>
      <p:sp>
        <p:nvSpPr>
          <p:cNvPr name="TextBox 4" id="4"/>
          <p:cNvSpPr txBox="true"/>
          <p:nvPr/>
        </p:nvSpPr>
        <p:spPr>
          <a:xfrm rot="0">
            <a:off x="7048816" y="6857932"/>
            <a:ext cx="4190367" cy="308554"/>
          </a:xfrm>
          <a:prstGeom prst="rect">
            <a:avLst/>
          </a:prstGeom>
        </p:spPr>
        <p:txBody>
          <a:bodyPr anchor="t" rtlCol="false" tIns="0" lIns="0" bIns="0" rIns="0">
            <a:spAutoFit/>
          </a:bodyPr>
          <a:lstStyle/>
          <a:p>
            <a:pPr algn="ctr">
              <a:lnSpc>
                <a:spcPts val="2608"/>
              </a:lnSpc>
            </a:pPr>
            <a:r>
              <a:rPr lang="en-US" sz="1799" spc="269">
                <a:solidFill>
                  <a:srgbClr val="FFFFFF"/>
                </a:solidFill>
                <a:latin typeface="Muli"/>
                <a:ea typeface="Muli"/>
                <a:cs typeface="Muli"/>
                <a:sym typeface="Muli"/>
              </a:rPr>
              <a:t>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DAHKsMRJLW4</dc:identifier>
  <dcterms:modified xsi:type="dcterms:W3CDTF">2011-08-01T06:04:30Z</dcterms:modified>
  <cp:revision>1</cp:revision>
  <dc:title>Black and White Simple Professional Data Analysis Presentation</dc:title>
</cp:coreProperties>
</file>